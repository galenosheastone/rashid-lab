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0E7490"/>
          </a:solidFill>
          <a:ln w="12700">
            <a:solidFill>
              <a:srgbClr val="0E7490"/>
            </a:solidFill>
            <a:prstDash val="solid"/>
          </a:ln>
        </p:spPr>
      </p:sp>
      <p:sp>
        <p:nvSpPr>
          <p:cNvPr id="3" name="Shape 1"/>
          <p:cNvSpPr/>
          <p:nvPr/>
        </p:nvSpPr>
        <p:spPr>
          <a:xfrm>
            <a:off x="457200" y="2788920"/>
            <a:ext cx="8046720" cy="41148"/>
          </a:xfrm>
          <a:prstGeom prst="rect">
            <a:avLst/>
          </a:prstGeom>
          <a:solidFill>
            <a:srgbClr val="F59E0B"/>
          </a:solidFill>
          <a:ln w="12700">
            <a:solidFill>
              <a:srgbClr val="F59E0B"/>
            </a:solidFill>
            <a:prstDash val="solid"/>
          </a:ln>
        </p:spPr>
      </p:sp>
      <p:sp>
        <p:nvSpPr>
          <p:cNvPr id="4" name="Text 2"/>
          <p:cNvSpPr/>
          <p:nvPr/>
        </p:nvSpPr>
        <p:spPr>
          <a:xfrm>
            <a:off x="457200" y="1005840"/>
            <a:ext cx="8046720" cy="1188720"/>
          </a:xfrm>
          <a:prstGeom prst="rect">
            <a:avLst/>
          </a:prstGeom>
          <a:noFill/>
          <a:ln/>
        </p:spPr>
        <p:txBody>
          <a:bodyPr wrap="square" rtlCol="0" anchor="b"/>
          <a:lstStyle/>
          <a:p>
            <a:pPr algn="l" indent="0" marL="0">
              <a:buNone/>
            </a:pPr>
            <a:r>
              <a:rPr lang="en-US" sz="4000" b="1" dirty="0">
                <a:solidFill>
                  <a:srgbClr val="FFFFFF"/>
                </a:solidFill>
                <a:latin typeface="Calibri" pitchFamily="34" charset="0"/>
                <a:ea typeface="Calibri" pitchFamily="34" charset="-122"/>
                <a:cs typeface="Calibri" pitchFamily="34" charset="-120"/>
              </a:rPr>
              <a:t>Bulk RNA-seq Pathway Scoring</a:t>
            </a:r>
            <a:endParaRPr lang="en-US" sz="4000" dirty="0"/>
          </a:p>
        </p:txBody>
      </p:sp>
      <p:sp>
        <p:nvSpPr>
          <p:cNvPr id="5" name="Text 3"/>
          <p:cNvSpPr/>
          <p:nvPr/>
        </p:nvSpPr>
        <p:spPr>
          <a:xfrm>
            <a:off x="457200" y="2194560"/>
            <a:ext cx="8046720" cy="502920"/>
          </a:xfrm>
          <a:prstGeom prst="rect">
            <a:avLst/>
          </a:prstGeom>
          <a:noFill/>
          <a:ln/>
        </p:spPr>
        <p:txBody>
          <a:bodyPr wrap="square" rtlCol="0" anchor="ctr"/>
          <a:lstStyle/>
          <a:p>
            <a:pPr algn="l" indent="0" marL="0">
              <a:buNone/>
            </a:pPr>
            <a:r>
              <a:rPr lang="en-US" sz="2000" i="1" dirty="0">
                <a:solidFill>
                  <a:srgbClr val="C8DFF0"/>
                </a:solidFill>
                <a:latin typeface="Calibri" pitchFamily="34" charset="0"/>
                <a:ea typeface="Calibri" pitchFamily="34" charset="-122"/>
                <a:cs typeface="Calibri" pitchFamily="34" charset="-120"/>
              </a:rPr>
              <a:t>A method explainer for PI discussion</a:t>
            </a:r>
            <a:endParaRPr lang="en-US" sz="2000" dirty="0"/>
          </a:p>
        </p:txBody>
      </p:sp>
      <p:sp>
        <p:nvSpPr>
          <p:cNvPr id="6" name="Text 4"/>
          <p:cNvSpPr/>
          <p:nvPr/>
        </p:nvSpPr>
        <p:spPr>
          <a:xfrm>
            <a:off x="457200" y="2971800"/>
            <a:ext cx="8046720" cy="411480"/>
          </a:xfrm>
          <a:prstGeom prst="rect">
            <a:avLst/>
          </a:prstGeom>
          <a:noFill/>
          <a:ln/>
        </p:spPr>
        <p:txBody>
          <a:bodyPr wrap="square" rtlCol="0" anchor="ctr"/>
          <a:lstStyle/>
          <a:p>
            <a:pPr algn="l" indent="0" marL="0">
              <a:buNone/>
            </a:pPr>
            <a:r>
              <a:rPr lang="en-US" sz="1300" b="1" dirty="0">
                <a:solidFill>
                  <a:srgbClr val="06B6D4"/>
                </a:solidFill>
              </a:rPr>
              <a:t>What it is  ·  </a:t>
            </a:r>
            <a:pPr algn="l" indent="0" marL="0">
              <a:buNone/>
            </a:pPr>
            <a:r>
              <a:rPr lang="en-US" sz="1300" b="1" dirty="0">
                <a:solidFill>
                  <a:srgbClr val="06B6D4"/>
                </a:solidFill>
              </a:rPr>
              <a:t>What the outputs mean  ·  </a:t>
            </a:r>
            <a:pPr algn="l" indent="0" marL="0">
              <a:buNone/>
            </a:pPr>
            <a:r>
              <a:rPr lang="en-US" sz="1300" b="1" dirty="0">
                <a:solidFill>
                  <a:srgbClr val="06B6D4"/>
                </a:solidFill>
              </a:rPr>
              <a:t>How to talk about it</a:t>
            </a:r>
            <a:endParaRPr lang="en-US" sz="1300" dirty="0"/>
          </a:p>
        </p:txBody>
      </p:sp>
      <p:sp>
        <p:nvSpPr>
          <p:cNvPr id="7" name="Text 5"/>
          <p:cNvSpPr/>
          <p:nvPr/>
        </p:nvSpPr>
        <p:spPr>
          <a:xfrm>
            <a:off x="457200" y="4480560"/>
            <a:ext cx="8229600" cy="320040"/>
          </a:xfrm>
          <a:prstGeom prst="rect">
            <a:avLst/>
          </a:prstGeom>
          <a:noFill/>
          <a:ln/>
        </p:spPr>
        <p:txBody>
          <a:bodyPr wrap="square" rtlCol="0" anchor="ctr"/>
          <a:lstStyle/>
          <a:p>
            <a:pPr algn="l" indent="0" marL="0">
              <a:buNone/>
            </a:pPr>
            <a:r>
              <a:rPr lang="en-US" sz="950" i="1" dirty="0">
                <a:solidFill>
                  <a:srgbClr val="4A6274"/>
                </a:solidFill>
              </a:rPr>
              <a:t>Rashid Lab  |  MSU Evo-Devo  |  Pathway Scoring v1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Why pathway scoring?</a:t>
            </a:r>
            <a:endParaRPr lang="en-US" sz="2200" dirty="0"/>
          </a:p>
        </p:txBody>
      </p:sp>
      <p:sp>
        <p:nvSpPr>
          <p:cNvPr id="4" name="Shape 2"/>
          <p:cNvSpPr/>
          <p:nvPr/>
        </p:nvSpPr>
        <p:spPr>
          <a:xfrm>
            <a:off x="320040" y="868680"/>
            <a:ext cx="3977640" cy="3858768"/>
          </a:xfrm>
          <a:prstGeom prst="rect">
            <a:avLst/>
          </a:prstGeom>
          <a:solidFill>
            <a:srgbClr val="FFFFFF"/>
          </a:solidFill>
          <a:ln w="6350">
            <a:solidFill>
              <a:srgbClr val="E2EAF2"/>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68680"/>
            <a:ext cx="64008" cy="3858768"/>
          </a:xfrm>
          <a:prstGeom prst="rect">
            <a:avLst/>
          </a:prstGeom>
          <a:solidFill>
            <a:srgbClr val="E53E3E"/>
          </a:solidFill>
          <a:ln w="12700">
            <a:solidFill>
              <a:srgbClr val="E53E3E"/>
            </a:solidFill>
            <a:prstDash val="solid"/>
          </a:ln>
        </p:spPr>
      </p:sp>
      <p:sp>
        <p:nvSpPr>
          <p:cNvPr id="6" name="Text 4"/>
          <p:cNvSpPr/>
          <p:nvPr/>
        </p:nvSpPr>
        <p:spPr>
          <a:xfrm>
            <a:off x="502920" y="960120"/>
            <a:ext cx="3566160" cy="384048"/>
          </a:xfrm>
          <a:prstGeom prst="rect">
            <a:avLst/>
          </a:prstGeom>
          <a:noFill/>
          <a:ln/>
        </p:spPr>
        <p:txBody>
          <a:bodyPr wrap="square" rtlCol="0" anchor="ctr"/>
          <a:lstStyle/>
          <a:p>
            <a:pPr algn="l" indent="0" marL="0">
              <a:buNone/>
            </a:pPr>
            <a:r>
              <a:rPr lang="en-US" sz="1350" b="1" dirty="0">
                <a:solidFill>
                  <a:srgbClr val="C53030"/>
                </a:solidFill>
                <a:latin typeface="Calibri" pitchFamily="34" charset="0"/>
                <a:ea typeface="Calibri" pitchFamily="34" charset="-122"/>
                <a:cs typeface="Calibri" pitchFamily="34" charset="-120"/>
              </a:rPr>
              <a:t>The problem with gene lists</a:t>
            </a:r>
            <a:endParaRPr lang="en-US" sz="1350" dirty="0"/>
          </a:p>
        </p:txBody>
      </p:sp>
      <p:sp>
        <p:nvSpPr>
          <p:cNvPr id="7" name="Text 5"/>
          <p:cNvSpPr/>
          <p:nvPr/>
        </p:nvSpPr>
        <p:spPr>
          <a:xfrm>
            <a:off x="502920" y="1389888"/>
            <a:ext cx="3566160" cy="3017520"/>
          </a:xfrm>
          <a:prstGeom prst="rect">
            <a:avLst/>
          </a:prstGeom>
          <a:noFill/>
          <a:ln/>
        </p:spPr>
        <p:txBody>
          <a:bodyPr wrap="square" rtlCol="0" anchor="ctr"/>
          <a:lstStyle/>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A typical DE result has hundreds–thousands of significant genes.</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Hard to convey biological meaning from a single gene list.</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Many genes change because shared regulation — not independent signals.</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Gene-level p-values don't reveal coordinated program activity.</a:t>
            </a:r>
            <a:endParaRPr lang="en-US" sz="1200" dirty="0"/>
          </a:p>
        </p:txBody>
      </p:sp>
      <p:sp>
        <p:nvSpPr>
          <p:cNvPr id="8" name="Shape 6"/>
          <p:cNvSpPr/>
          <p:nvPr/>
        </p:nvSpPr>
        <p:spPr>
          <a:xfrm>
            <a:off x="4663440" y="868680"/>
            <a:ext cx="4160520" cy="3858768"/>
          </a:xfrm>
          <a:prstGeom prst="rect">
            <a:avLst/>
          </a:prstGeom>
          <a:solidFill>
            <a:srgbClr val="FFFFFF"/>
          </a:solidFill>
          <a:ln w="6350">
            <a:solidFill>
              <a:srgbClr val="E2EAF2"/>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4663440" y="868680"/>
            <a:ext cx="64008" cy="3858768"/>
          </a:xfrm>
          <a:prstGeom prst="rect">
            <a:avLst/>
          </a:prstGeom>
          <a:solidFill>
            <a:srgbClr val="0E7490"/>
          </a:solidFill>
          <a:ln w="12700">
            <a:solidFill>
              <a:srgbClr val="0E7490"/>
            </a:solidFill>
            <a:prstDash val="solid"/>
          </a:ln>
        </p:spPr>
      </p:sp>
      <p:sp>
        <p:nvSpPr>
          <p:cNvPr id="10" name="Text 8"/>
          <p:cNvSpPr/>
          <p:nvPr/>
        </p:nvSpPr>
        <p:spPr>
          <a:xfrm>
            <a:off x="4846320" y="960120"/>
            <a:ext cx="3749040" cy="384048"/>
          </a:xfrm>
          <a:prstGeom prst="rect">
            <a:avLst/>
          </a:prstGeom>
          <a:noFill/>
          <a:ln/>
        </p:spPr>
        <p:txBody>
          <a:bodyPr wrap="square" rtlCol="0" anchor="ctr"/>
          <a:lstStyle/>
          <a:p>
            <a:pPr algn="l" indent="0" marL="0">
              <a:buNone/>
            </a:pPr>
            <a:r>
              <a:rPr lang="en-US" sz="1350" b="1" dirty="0">
                <a:solidFill>
                  <a:srgbClr val="0E7490"/>
                </a:solidFill>
                <a:latin typeface="Calibri" pitchFamily="34" charset="0"/>
                <a:ea typeface="Calibri" pitchFamily="34" charset="-122"/>
                <a:cs typeface="Calibri" pitchFamily="34" charset="-120"/>
              </a:rPr>
              <a:t>What pathway scoring adds</a:t>
            </a:r>
            <a:endParaRPr lang="en-US" sz="1350" dirty="0"/>
          </a:p>
        </p:txBody>
      </p:sp>
      <p:sp>
        <p:nvSpPr>
          <p:cNvPr id="11" name="Text 9"/>
          <p:cNvSpPr/>
          <p:nvPr/>
        </p:nvSpPr>
        <p:spPr>
          <a:xfrm>
            <a:off x="4846320" y="1389888"/>
            <a:ext cx="3749040" cy="3017520"/>
          </a:xfrm>
          <a:prstGeom prst="rect">
            <a:avLst/>
          </a:prstGeom>
          <a:noFill/>
          <a:ln/>
        </p:spPr>
        <p:txBody>
          <a:bodyPr wrap="square" rtlCol="0" anchor="ctr"/>
          <a:lstStyle/>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Compresses many gene measurements into one score per biological program.</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Each sample gets a score for each pathway — not just an aggregate.</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Three complementary methods (GSVA, ssGSEA, singscore) run in parallel.</a:t>
            </a:r>
            <a:endParaRPr lang="en-US" sz="1200" dirty="0"/>
          </a:p>
          <a:p>
            <a:pPr algn="l" marL="342900" indent="-342900">
              <a:spcAft>
                <a:spcPts val="600"/>
              </a:spcAft>
              <a:buSzPct val="100000"/>
              <a:buChar char="•"/>
            </a:pPr>
            <a:r>
              <a:rPr lang="en-US" sz="1200" dirty="0">
                <a:solidFill>
                  <a:srgbClr val="1A2535"/>
                </a:solidFill>
                <a:latin typeface="Calibri" pitchFamily="34" charset="0"/>
                <a:ea typeface="Calibri" pitchFamily="34" charset="-122"/>
                <a:cs typeface="Calibri" pitchFamily="34" charset="-120"/>
              </a:rPr>
              <a:t>Makes coordinated biology visible at the sample level.</a:t>
            </a:r>
            <a:endParaRPr lang="en-US" sz="1200" dirty="0"/>
          </a:p>
        </p:txBody>
      </p:sp>
      <p:sp>
        <p:nvSpPr>
          <p:cNvPr id="12" name="Shape 10"/>
          <p:cNvSpPr/>
          <p:nvPr/>
        </p:nvSpPr>
        <p:spPr>
          <a:xfrm>
            <a:off x="4315968" y="2788920"/>
            <a:ext cx="347472" cy="0"/>
          </a:xfrm>
          <a:prstGeom prst="line">
            <a:avLst/>
          </a:prstGeom>
          <a:noFill/>
          <a:ln w="31750">
            <a:solidFill>
              <a:srgbClr val="F59E0B"/>
            </a:solidFill>
            <a:prstDash val="solid"/>
          </a:ln>
        </p:spPr>
      </p:sp>
      <p:sp>
        <p:nvSpPr>
          <p:cNvPr id="13" name="Text 11"/>
          <p:cNvSpPr/>
          <p:nvPr/>
        </p:nvSpPr>
        <p:spPr>
          <a:xfrm>
            <a:off x="4297680" y="2606040"/>
            <a:ext cx="384048" cy="365760"/>
          </a:xfrm>
          <a:prstGeom prst="rect">
            <a:avLst/>
          </a:prstGeom>
          <a:noFill/>
          <a:ln/>
        </p:spPr>
        <p:txBody>
          <a:bodyPr wrap="square" rtlCol="0" anchor="ctr"/>
          <a:lstStyle/>
          <a:p>
            <a:pPr algn="ctr" indent="0" marL="0">
              <a:buNone/>
            </a:pPr>
            <a:r>
              <a:rPr lang="en-US" sz="2200" b="1" dirty="0">
                <a:solidFill>
                  <a:srgbClr val="F59E0B"/>
                </a:solidFill>
              </a:rPr>
              <a:t>→</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the pipeline does, step by step</a:t>
            </a:r>
            <a:endParaRPr lang="en-US" sz="2200" dirty="0"/>
          </a:p>
        </p:txBody>
      </p:sp>
      <p:sp>
        <p:nvSpPr>
          <p:cNvPr id="4" name="Shape 2"/>
          <p:cNvSpPr/>
          <p:nvPr/>
        </p:nvSpPr>
        <p:spPr>
          <a:xfrm>
            <a:off x="320040" y="804672"/>
            <a:ext cx="1920240"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04672"/>
            <a:ext cx="1920240" cy="73152"/>
          </a:xfrm>
          <a:prstGeom prst="rect">
            <a:avLst/>
          </a:prstGeom>
          <a:solidFill>
            <a:srgbClr val="0369A1"/>
          </a:solidFill>
          <a:ln w="12700">
            <a:solidFill>
              <a:srgbClr val="0369A1"/>
            </a:solidFill>
            <a:prstDash val="solid"/>
          </a:ln>
        </p:spPr>
      </p:sp>
      <p:sp>
        <p:nvSpPr>
          <p:cNvPr id="6" name="Shape 4"/>
          <p:cNvSpPr/>
          <p:nvPr/>
        </p:nvSpPr>
        <p:spPr>
          <a:xfrm>
            <a:off x="502920" y="987552"/>
            <a:ext cx="475488" cy="475488"/>
          </a:xfrm>
          <a:prstGeom prst="ellipse">
            <a:avLst/>
          </a:prstGeom>
          <a:solidFill>
            <a:srgbClr val="0369A1"/>
          </a:solidFill>
          <a:ln w="12700">
            <a:solidFill>
              <a:srgbClr val="0369A1"/>
            </a:solidFill>
            <a:prstDash val="solid"/>
          </a:ln>
        </p:spPr>
      </p:sp>
      <p:sp>
        <p:nvSpPr>
          <p:cNvPr id="7" name="Text 5"/>
          <p:cNvSpPr/>
          <p:nvPr/>
        </p:nvSpPr>
        <p:spPr>
          <a:xfrm>
            <a:off x="502920" y="9875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8" name="Text 6"/>
          <p:cNvSpPr/>
          <p:nvPr/>
        </p:nvSpPr>
        <p:spPr>
          <a:xfrm>
            <a:off x="438912" y="1563624"/>
            <a:ext cx="1737360" cy="457200"/>
          </a:xfrm>
          <a:prstGeom prst="rect">
            <a:avLst/>
          </a:prstGeom>
          <a:noFill/>
          <a:ln/>
        </p:spPr>
        <p:txBody>
          <a:bodyPr wrap="square" rtlCol="0" anchor="ctr"/>
          <a:lstStyle/>
          <a:p>
            <a:pPr algn="l" indent="0" marL="0">
              <a:buNone/>
            </a:pPr>
            <a:r>
              <a:rPr lang="en-US" sz="1300" b="1" dirty="0">
                <a:solidFill>
                  <a:srgbClr val="0369A1"/>
                </a:solidFill>
                <a:latin typeface="Calibri" pitchFamily="34" charset="0"/>
                <a:ea typeface="Calibri" pitchFamily="34" charset="-122"/>
                <a:cs typeface="Calibri" pitchFamily="34" charset="-120"/>
              </a:rPr>
              <a:t>Read inputs</a:t>
            </a:r>
            <a:endParaRPr lang="en-US" sz="1300" dirty="0"/>
          </a:p>
        </p:txBody>
      </p:sp>
      <p:sp>
        <p:nvSpPr>
          <p:cNvPr id="9" name="Text 7"/>
          <p:cNvSpPr/>
          <p:nvPr/>
        </p:nvSpPr>
        <p:spPr>
          <a:xfrm>
            <a:off x="438912" y="2039112"/>
            <a:ext cx="1737360" cy="2057400"/>
          </a:xfrm>
          <a:prstGeom prst="rect">
            <a:avLst/>
          </a:prstGeom>
          <a:noFill/>
          <a:ln/>
        </p:spPr>
        <p:txBody>
          <a:bodyPr wrap="square" rtlCol="0" anchor="ctr"/>
          <a:lstStyle/>
          <a:p>
            <a:pPr algn="l" indent="0" marL="0">
              <a:buNone/>
            </a:pPr>
            <a:r>
              <a:rPr lang="en-US" sz="1050" dirty="0">
                <a:solidFill>
                  <a:srgbClr val="1A2535"/>
                </a:solidFill>
                <a:latin typeface="Calibri" pitchFamily="34" charset="0"/>
                <a:ea typeface="Calibri" pitchFamily="34" charset="-122"/>
                <a:cs typeface="Calibri" pitchFamily="34" charset="-120"/>
              </a:rPr>
              <a:t>Normalized expression CSV</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(columns: norm_Group_Rep)</a:t>
            </a:r>
            <a:endParaRPr lang="en-US" sz="1050" dirty="0"/>
          </a:p>
          <a:p>
            <a:pPr algn="l" indent="0" marL="0">
              <a:buNone/>
            </a:pP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Gene sets: CSV (set_name +</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gene_symbol + optional direction)</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or GMT format</a:t>
            </a:r>
            <a:endParaRPr lang="en-US" sz="1050" dirty="0"/>
          </a:p>
        </p:txBody>
      </p:sp>
      <p:sp>
        <p:nvSpPr>
          <p:cNvPr id="10" name="Text 8"/>
          <p:cNvSpPr/>
          <p:nvPr/>
        </p:nvSpPr>
        <p:spPr>
          <a:xfrm>
            <a:off x="2267712" y="2221992"/>
            <a:ext cx="246888" cy="457200"/>
          </a:xfrm>
          <a:prstGeom prst="rect">
            <a:avLst/>
          </a:prstGeom>
          <a:noFill/>
          <a:ln/>
        </p:spPr>
        <p:txBody>
          <a:bodyPr wrap="square" rtlCol="0" anchor="ctr"/>
          <a:lstStyle/>
          <a:p>
            <a:pPr algn="ctr" indent="0" marL="0">
              <a:buNone/>
            </a:pPr>
            <a:r>
              <a:rPr lang="en-US" sz="2200" b="1" dirty="0">
                <a:solidFill>
                  <a:srgbClr val="F59E0B"/>
                </a:solidFill>
              </a:rPr>
              <a:t>›</a:t>
            </a:r>
            <a:endParaRPr lang="en-US" sz="2200" dirty="0"/>
          </a:p>
        </p:txBody>
      </p:sp>
      <p:sp>
        <p:nvSpPr>
          <p:cNvPr id="11" name="Shape 9"/>
          <p:cNvSpPr/>
          <p:nvPr/>
        </p:nvSpPr>
        <p:spPr>
          <a:xfrm>
            <a:off x="2487168" y="804672"/>
            <a:ext cx="1920240"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2487168" y="804672"/>
            <a:ext cx="1920240" cy="73152"/>
          </a:xfrm>
          <a:prstGeom prst="rect">
            <a:avLst/>
          </a:prstGeom>
          <a:solidFill>
            <a:srgbClr val="0E7490"/>
          </a:solidFill>
          <a:ln w="12700">
            <a:solidFill>
              <a:srgbClr val="0E7490"/>
            </a:solidFill>
            <a:prstDash val="solid"/>
          </a:ln>
        </p:spPr>
      </p:sp>
      <p:sp>
        <p:nvSpPr>
          <p:cNvPr id="13" name="Shape 11"/>
          <p:cNvSpPr/>
          <p:nvPr/>
        </p:nvSpPr>
        <p:spPr>
          <a:xfrm>
            <a:off x="2670048" y="987552"/>
            <a:ext cx="475488" cy="475488"/>
          </a:xfrm>
          <a:prstGeom prst="ellipse">
            <a:avLst/>
          </a:prstGeom>
          <a:solidFill>
            <a:srgbClr val="0E7490"/>
          </a:solidFill>
          <a:ln w="12700">
            <a:solidFill>
              <a:srgbClr val="0E7490"/>
            </a:solidFill>
            <a:prstDash val="solid"/>
          </a:ln>
        </p:spPr>
      </p:sp>
      <p:sp>
        <p:nvSpPr>
          <p:cNvPr id="14" name="Text 12"/>
          <p:cNvSpPr/>
          <p:nvPr/>
        </p:nvSpPr>
        <p:spPr>
          <a:xfrm>
            <a:off x="2670048" y="9875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5" name="Text 13"/>
          <p:cNvSpPr/>
          <p:nvPr/>
        </p:nvSpPr>
        <p:spPr>
          <a:xfrm>
            <a:off x="2606040" y="1563624"/>
            <a:ext cx="1737360" cy="457200"/>
          </a:xfrm>
          <a:prstGeom prst="rect">
            <a:avLst/>
          </a:prstGeom>
          <a:noFill/>
          <a:ln/>
        </p:spPr>
        <p:txBody>
          <a:bodyPr wrap="square" rtlCol="0" anchor="ctr"/>
          <a:lstStyle/>
          <a:p>
            <a:pPr algn="l" indent="0" marL="0">
              <a:buNone/>
            </a:pPr>
            <a:r>
              <a:rPr lang="en-US" sz="1300" b="1" dirty="0">
                <a:solidFill>
                  <a:srgbClr val="0E7490"/>
                </a:solidFill>
                <a:latin typeface="Calibri" pitchFamily="34" charset="0"/>
                <a:ea typeface="Calibri" pitchFamily="34" charset="-122"/>
                <a:cs typeface="Calibri" pitchFamily="34" charset="-120"/>
              </a:rPr>
              <a:t>Clean &amp; filter genes</a:t>
            </a:r>
            <a:endParaRPr lang="en-US" sz="1300" dirty="0"/>
          </a:p>
        </p:txBody>
      </p:sp>
      <p:sp>
        <p:nvSpPr>
          <p:cNvPr id="16" name="Text 14"/>
          <p:cNvSpPr/>
          <p:nvPr/>
        </p:nvSpPr>
        <p:spPr>
          <a:xfrm>
            <a:off x="2606040" y="2039112"/>
            <a:ext cx="1737360" cy="2057400"/>
          </a:xfrm>
          <a:prstGeom prst="rect">
            <a:avLst/>
          </a:prstGeom>
          <a:noFill/>
          <a:ln/>
        </p:spPr>
        <p:txBody>
          <a:bodyPr wrap="square" rtlCol="0" anchor="ctr"/>
          <a:lstStyle/>
          <a:p>
            <a:pPr algn="l" indent="0" marL="0">
              <a:buNone/>
            </a:pPr>
            <a:r>
              <a:rPr lang="en-US" sz="1050" dirty="0">
                <a:solidFill>
                  <a:srgbClr val="1A2535"/>
                </a:solidFill>
                <a:latin typeface="Calibri" pitchFamily="34" charset="0"/>
                <a:ea typeface="Calibri" pitchFamily="34" charset="-122"/>
                <a:cs typeface="Calibri" pitchFamily="34" charset="-120"/>
              </a:rPr>
              <a:t>Resolve gene IDs (SYMBOL priority,</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fallback to Ensembl / Geneid)</a:t>
            </a:r>
            <a:endParaRPr lang="en-US" sz="1050" dirty="0"/>
          </a:p>
          <a:p>
            <a:pPr algn="l" indent="0" marL="0">
              <a:buNone/>
            </a:pP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De-duplicate by max mean expr.</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Drop low-expression &amp; zero-</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variance genes → log₂(x+1)</a:t>
            </a:r>
            <a:endParaRPr lang="en-US" sz="1050" dirty="0"/>
          </a:p>
        </p:txBody>
      </p:sp>
      <p:sp>
        <p:nvSpPr>
          <p:cNvPr id="17" name="Text 15"/>
          <p:cNvSpPr/>
          <p:nvPr/>
        </p:nvSpPr>
        <p:spPr>
          <a:xfrm>
            <a:off x="4434840" y="2221992"/>
            <a:ext cx="246888" cy="457200"/>
          </a:xfrm>
          <a:prstGeom prst="rect">
            <a:avLst/>
          </a:prstGeom>
          <a:noFill/>
          <a:ln/>
        </p:spPr>
        <p:txBody>
          <a:bodyPr wrap="square" rtlCol="0" anchor="ctr"/>
          <a:lstStyle/>
          <a:p>
            <a:pPr algn="ctr" indent="0" marL="0">
              <a:buNone/>
            </a:pPr>
            <a:r>
              <a:rPr lang="en-US" sz="2200" b="1" dirty="0">
                <a:solidFill>
                  <a:srgbClr val="F59E0B"/>
                </a:solidFill>
              </a:rPr>
              <a:t>›</a:t>
            </a:r>
            <a:endParaRPr lang="en-US" sz="2200" dirty="0"/>
          </a:p>
        </p:txBody>
      </p:sp>
      <p:sp>
        <p:nvSpPr>
          <p:cNvPr id="18" name="Shape 16"/>
          <p:cNvSpPr/>
          <p:nvPr/>
        </p:nvSpPr>
        <p:spPr>
          <a:xfrm>
            <a:off x="4654296" y="804672"/>
            <a:ext cx="1920240"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654296" y="804672"/>
            <a:ext cx="1920240" cy="73152"/>
          </a:xfrm>
          <a:prstGeom prst="rect">
            <a:avLst/>
          </a:prstGeom>
          <a:solidFill>
            <a:srgbClr val="059669"/>
          </a:solidFill>
          <a:ln w="12700">
            <a:solidFill>
              <a:srgbClr val="059669"/>
            </a:solidFill>
            <a:prstDash val="solid"/>
          </a:ln>
        </p:spPr>
      </p:sp>
      <p:sp>
        <p:nvSpPr>
          <p:cNvPr id="20" name="Shape 18"/>
          <p:cNvSpPr/>
          <p:nvPr/>
        </p:nvSpPr>
        <p:spPr>
          <a:xfrm>
            <a:off x="4837176" y="987552"/>
            <a:ext cx="475488" cy="475488"/>
          </a:xfrm>
          <a:prstGeom prst="ellipse">
            <a:avLst/>
          </a:prstGeom>
          <a:solidFill>
            <a:srgbClr val="059669"/>
          </a:solidFill>
          <a:ln w="12700">
            <a:solidFill>
              <a:srgbClr val="059669"/>
            </a:solidFill>
            <a:prstDash val="solid"/>
          </a:ln>
        </p:spPr>
      </p:sp>
      <p:sp>
        <p:nvSpPr>
          <p:cNvPr id="21" name="Text 19"/>
          <p:cNvSpPr/>
          <p:nvPr/>
        </p:nvSpPr>
        <p:spPr>
          <a:xfrm>
            <a:off x="4837176" y="9875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22" name="Text 20"/>
          <p:cNvSpPr/>
          <p:nvPr/>
        </p:nvSpPr>
        <p:spPr>
          <a:xfrm>
            <a:off x="4773168" y="1563624"/>
            <a:ext cx="1737360" cy="457200"/>
          </a:xfrm>
          <a:prstGeom prst="rect">
            <a:avLst/>
          </a:prstGeom>
          <a:noFill/>
          <a:ln/>
        </p:spPr>
        <p:txBody>
          <a:bodyPr wrap="square" rtlCol="0" anchor="ctr"/>
          <a:lstStyle/>
          <a:p>
            <a:pPr algn="l" indent="0" marL="0">
              <a:buNone/>
            </a:pPr>
            <a:r>
              <a:rPr lang="en-US" sz="1300" b="1" dirty="0">
                <a:solidFill>
                  <a:srgbClr val="059669"/>
                </a:solidFill>
                <a:latin typeface="Calibri" pitchFamily="34" charset="0"/>
                <a:ea typeface="Calibri" pitchFamily="34" charset="-122"/>
                <a:cs typeface="Calibri" pitchFamily="34" charset="-120"/>
              </a:rPr>
              <a:t>Score each pathway</a:t>
            </a:r>
            <a:endParaRPr lang="en-US" sz="1300" dirty="0"/>
          </a:p>
        </p:txBody>
      </p:sp>
      <p:sp>
        <p:nvSpPr>
          <p:cNvPr id="23" name="Text 21"/>
          <p:cNvSpPr/>
          <p:nvPr/>
        </p:nvSpPr>
        <p:spPr>
          <a:xfrm>
            <a:off x="4773168" y="2039112"/>
            <a:ext cx="1737360" cy="2057400"/>
          </a:xfrm>
          <a:prstGeom prst="rect">
            <a:avLst/>
          </a:prstGeom>
          <a:noFill/>
          <a:ln/>
        </p:spPr>
        <p:txBody>
          <a:bodyPr wrap="square" rtlCol="0" anchor="ctr"/>
          <a:lstStyle/>
          <a:p>
            <a:pPr algn="l" indent="0" marL="0">
              <a:buNone/>
            </a:pPr>
            <a:r>
              <a:rPr lang="en-US" sz="1050" dirty="0">
                <a:solidFill>
                  <a:srgbClr val="1A2535"/>
                </a:solidFill>
                <a:latin typeface="Calibri" pitchFamily="34" charset="0"/>
                <a:ea typeface="Calibri" pitchFamily="34" charset="-122"/>
                <a:cs typeface="Calibri" pitchFamily="34" charset="-120"/>
              </a:rPr>
              <a:t>GSVA — relative ranks, Gaussian</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ssGSEA — enrichment score</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singscore — rank-based; supports</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directional up/down gene sets</a:t>
            </a:r>
            <a:endParaRPr lang="en-US" sz="1050" dirty="0"/>
          </a:p>
          <a:p>
            <a:pPr algn="l" indent="0" marL="0">
              <a:buNone/>
            </a:pP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Each method → pathway × sample matrix</a:t>
            </a:r>
            <a:endParaRPr lang="en-US" sz="1050" dirty="0"/>
          </a:p>
        </p:txBody>
      </p:sp>
      <p:sp>
        <p:nvSpPr>
          <p:cNvPr id="24" name="Text 22"/>
          <p:cNvSpPr/>
          <p:nvPr/>
        </p:nvSpPr>
        <p:spPr>
          <a:xfrm>
            <a:off x="6601968" y="2221992"/>
            <a:ext cx="246888" cy="457200"/>
          </a:xfrm>
          <a:prstGeom prst="rect">
            <a:avLst/>
          </a:prstGeom>
          <a:noFill/>
          <a:ln/>
        </p:spPr>
        <p:txBody>
          <a:bodyPr wrap="square" rtlCol="0" anchor="ctr"/>
          <a:lstStyle/>
          <a:p>
            <a:pPr algn="ctr" indent="0" marL="0">
              <a:buNone/>
            </a:pPr>
            <a:r>
              <a:rPr lang="en-US" sz="2200" b="1" dirty="0">
                <a:solidFill>
                  <a:srgbClr val="F59E0B"/>
                </a:solidFill>
              </a:rPr>
              <a:t>›</a:t>
            </a:r>
            <a:endParaRPr lang="en-US" sz="2200" dirty="0"/>
          </a:p>
        </p:txBody>
      </p:sp>
      <p:sp>
        <p:nvSpPr>
          <p:cNvPr id="25" name="Shape 23"/>
          <p:cNvSpPr/>
          <p:nvPr/>
        </p:nvSpPr>
        <p:spPr>
          <a:xfrm>
            <a:off x="6821424" y="804672"/>
            <a:ext cx="1920240"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6821424" y="804672"/>
            <a:ext cx="1920240" cy="73152"/>
          </a:xfrm>
          <a:prstGeom prst="rect">
            <a:avLst/>
          </a:prstGeom>
          <a:solidFill>
            <a:srgbClr val="7C3AED"/>
          </a:solidFill>
          <a:ln w="12700">
            <a:solidFill>
              <a:srgbClr val="7C3AED"/>
            </a:solidFill>
            <a:prstDash val="solid"/>
          </a:ln>
        </p:spPr>
      </p:sp>
      <p:sp>
        <p:nvSpPr>
          <p:cNvPr id="27" name="Shape 25"/>
          <p:cNvSpPr/>
          <p:nvPr/>
        </p:nvSpPr>
        <p:spPr>
          <a:xfrm>
            <a:off x="7004304" y="987552"/>
            <a:ext cx="475488" cy="475488"/>
          </a:xfrm>
          <a:prstGeom prst="ellipse">
            <a:avLst/>
          </a:prstGeom>
          <a:solidFill>
            <a:srgbClr val="7C3AED"/>
          </a:solidFill>
          <a:ln w="12700">
            <a:solidFill>
              <a:srgbClr val="7C3AED"/>
            </a:solidFill>
            <a:prstDash val="solid"/>
          </a:ln>
        </p:spPr>
      </p:sp>
      <p:sp>
        <p:nvSpPr>
          <p:cNvPr id="28" name="Text 26"/>
          <p:cNvSpPr/>
          <p:nvPr/>
        </p:nvSpPr>
        <p:spPr>
          <a:xfrm>
            <a:off x="7004304" y="987552"/>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29" name="Text 27"/>
          <p:cNvSpPr/>
          <p:nvPr/>
        </p:nvSpPr>
        <p:spPr>
          <a:xfrm>
            <a:off x="6940296" y="1563624"/>
            <a:ext cx="1737360" cy="457200"/>
          </a:xfrm>
          <a:prstGeom prst="rect">
            <a:avLst/>
          </a:prstGeom>
          <a:noFill/>
          <a:ln/>
        </p:spPr>
        <p:txBody>
          <a:bodyPr wrap="square" rtlCol="0" anchor="ctr"/>
          <a:lstStyle/>
          <a:p>
            <a:pPr algn="l" indent="0" marL="0">
              <a:buNone/>
            </a:pPr>
            <a:r>
              <a:rPr lang="en-US" sz="1300" b="1" dirty="0">
                <a:solidFill>
                  <a:srgbClr val="7C3AED"/>
                </a:solidFill>
                <a:latin typeface="Calibri" pitchFamily="34" charset="0"/>
                <a:ea typeface="Calibri" pitchFamily="34" charset="-122"/>
                <a:cs typeface="Calibri" pitchFamily="34" charset="-120"/>
              </a:rPr>
              <a:t>Statistics &amp; plots</a:t>
            </a:r>
            <a:endParaRPr lang="en-US" sz="1300" dirty="0"/>
          </a:p>
        </p:txBody>
      </p:sp>
      <p:sp>
        <p:nvSpPr>
          <p:cNvPr id="30" name="Text 28"/>
          <p:cNvSpPr/>
          <p:nvPr/>
        </p:nvSpPr>
        <p:spPr>
          <a:xfrm>
            <a:off x="6940296" y="2039112"/>
            <a:ext cx="1737360" cy="2057400"/>
          </a:xfrm>
          <a:prstGeom prst="rect">
            <a:avLst/>
          </a:prstGeom>
          <a:noFill/>
          <a:ln/>
        </p:spPr>
        <p:txBody>
          <a:bodyPr wrap="square" rtlCol="0" anchor="ctr"/>
          <a:lstStyle/>
          <a:p>
            <a:pPr algn="l" indent="0" marL="0">
              <a:buNone/>
            </a:pPr>
            <a:r>
              <a:rPr lang="en-US" sz="1050" dirty="0">
                <a:solidFill>
                  <a:srgbClr val="1A2535"/>
                </a:solidFill>
                <a:latin typeface="Calibri" pitchFamily="34" charset="0"/>
                <a:ea typeface="Calibri" pitchFamily="34" charset="-122"/>
                <a:cs typeface="Calibri" pitchFamily="34" charset="-120"/>
              </a:rPr>
              <a:t>Kruskal-Wallis omnibus test</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 pairwise Wilcoxon (BH adjust)</a:t>
            </a:r>
            <a:endParaRPr lang="en-US" sz="1050" dirty="0"/>
          </a:p>
          <a:p>
            <a:pPr algn="l" indent="0" marL="0">
              <a:buNone/>
            </a:pP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Heatmaps, boxplots, PCA</a:t>
            </a:r>
            <a:endParaRPr lang="en-US" sz="1050" dirty="0"/>
          </a:p>
          <a:p>
            <a:pPr algn="l" indent="0" marL="0">
              <a:buNone/>
            </a:pPr>
            <a:r>
              <a:rPr lang="en-US" sz="1050" dirty="0">
                <a:solidFill>
                  <a:srgbClr val="1A2535"/>
                </a:solidFill>
                <a:latin typeface="Calibri" pitchFamily="34" charset="0"/>
                <a:ea typeface="Calibri" pitchFamily="34" charset="-122"/>
                <a:cs typeface="Calibri" pitchFamily="34" charset="-120"/>
              </a:rPr>
              <a:t>per method → /plots/</a:t>
            </a:r>
            <a:endParaRPr lang="en-US" sz="1050" dirty="0"/>
          </a:p>
        </p:txBody>
      </p:sp>
      <p:sp>
        <p:nvSpPr>
          <p:cNvPr id="31" name="Text 29"/>
          <p:cNvSpPr/>
          <p:nvPr/>
        </p:nvSpPr>
        <p:spPr>
          <a:xfrm>
            <a:off x="320040" y="4800600"/>
            <a:ext cx="8503920" cy="246888"/>
          </a:xfrm>
          <a:prstGeom prst="rect">
            <a:avLst/>
          </a:prstGeom>
          <a:noFill/>
          <a:ln/>
        </p:spPr>
        <p:txBody>
          <a:bodyPr wrap="square" rtlCol="0" anchor="ctr"/>
          <a:lstStyle/>
          <a:p>
            <a:pPr algn="l" indent="0" marL="0">
              <a:buNone/>
            </a:pPr>
            <a:r>
              <a:rPr lang="en-US" sz="900" i="1" dirty="0">
                <a:solidFill>
                  <a:srgbClr val="4A6274"/>
                </a:solidFill>
              </a:rPr>
              <a:t>Script: pathway_scoring.R  ·  Inputs: expression CSV + gene-set file (CSV/GMT)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Three scoring methods — run in parallel</a:t>
            </a:r>
            <a:endParaRPr lang="en-US" sz="2200" dirty="0"/>
          </a:p>
        </p:txBody>
      </p:sp>
      <p:sp>
        <p:nvSpPr>
          <p:cNvPr id="4" name="Shape 2"/>
          <p:cNvSpPr/>
          <p:nvPr/>
        </p:nvSpPr>
        <p:spPr>
          <a:xfrm>
            <a:off x="320040" y="804672"/>
            <a:ext cx="2651760" cy="397764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04672"/>
            <a:ext cx="2651760" cy="73152"/>
          </a:xfrm>
          <a:prstGeom prst="rect">
            <a:avLst/>
          </a:prstGeom>
          <a:solidFill>
            <a:srgbClr val="0369A1"/>
          </a:solidFill>
          <a:ln w="12700">
            <a:solidFill>
              <a:srgbClr val="0369A1"/>
            </a:solidFill>
            <a:prstDash val="solid"/>
          </a:ln>
        </p:spPr>
      </p:sp>
      <p:sp>
        <p:nvSpPr>
          <p:cNvPr id="6" name="Text 4"/>
          <p:cNvSpPr/>
          <p:nvPr/>
        </p:nvSpPr>
        <p:spPr>
          <a:xfrm>
            <a:off x="457200" y="941832"/>
            <a:ext cx="2377440" cy="457200"/>
          </a:xfrm>
          <a:prstGeom prst="rect">
            <a:avLst/>
          </a:prstGeom>
          <a:noFill/>
          <a:ln/>
        </p:spPr>
        <p:txBody>
          <a:bodyPr wrap="square" rtlCol="0" anchor="ctr"/>
          <a:lstStyle/>
          <a:p>
            <a:pPr algn="l" indent="0" marL="0">
              <a:buNone/>
            </a:pPr>
            <a:r>
              <a:rPr lang="en-US" sz="2000" b="1" dirty="0">
                <a:solidFill>
                  <a:srgbClr val="0369A1"/>
                </a:solidFill>
                <a:latin typeface="Calibri" pitchFamily="34" charset="0"/>
                <a:ea typeface="Calibri" pitchFamily="34" charset="-122"/>
                <a:cs typeface="Calibri" pitchFamily="34" charset="-120"/>
              </a:rPr>
              <a:t>GSVA</a:t>
            </a:r>
            <a:endParaRPr lang="en-US" sz="2000" dirty="0"/>
          </a:p>
        </p:txBody>
      </p:sp>
      <p:sp>
        <p:nvSpPr>
          <p:cNvPr id="7" name="Text 5"/>
          <p:cNvSpPr/>
          <p:nvPr/>
        </p:nvSpPr>
        <p:spPr>
          <a:xfrm>
            <a:off x="457200" y="1371600"/>
            <a:ext cx="2377440" cy="320040"/>
          </a:xfrm>
          <a:prstGeom prst="rect">
            <a:avLst/>
          </a:prstGeom>
          <a:noFill/>
          <a:ln/>
        </p:spPr>
        <p:txBody>
          <a:bodyPr wrap="square" rtlCol="0" anchor="ctr"/>
          <a:lstStyle/>
          <a:p>
            <a:pPr algn="l" indent="0" marL="0">
              <a:buNone/>
            </a:pPr>
            <a:r>
              <a:rPr lang="en-US" sz="1000" i="1" dirty="0">
                <a:solidFill>
                  <a:srgbClr val="4A6274"/>
                </a:solidFill>
                <a:latin typeface="Calibri" pitchFamily="34" charset="0"/>
                <a:ea typeface="Calibri" pitchFamily="34" charset="-122"/>
                <a:cs typeface="Calibri" pitchFamily="34" charset="-120"/>
              </a:rPr>
              <a:t>Gene Set Variation Analysis</a:t>
            </a:r>
            <a:endParaRPr lang="en-US" sz="1000" dirty="0"/>
          </a:p>
        </p:txBody>
      </p:sp>
      <p:sp>
        <p:nvSpPr>
          <p:cNvPr id="8" name="Shape 6"/>
          <p:cNvSpPr/>
          <p:nvPr/>
        </p:nvSpPr>
        <p:spPr>
          <a:xfrm>
            <a:off x="457200" y="1737360"/>
            <a:ext cx="1188720" cy="292608"/>
          </a:xfrm>
          <a:prstGeom prst="roundRect">
            <a:avLst>
              <a:gd name="adj" fmla="val 31250"/>
            </a:avLst>
          </a:prstGeom>
          <a:solidFill>
            <a:srgbClr val="DBEAFE"/>
          </a:solidFill>
          <a:ln w="12700">
            <a:solidFill>
              <a:srgbClr val="DBEAFE"/>
            </a:solidFill>
            <a:prstDash val="solid"/>
          </a:ln>
        </p:spPr>
      </p:sp>
      <p:sp>
        <p:nvSpPr>
          <p:cNvPr id="9" name="Text 7"/>
          <p:cNvSpPr/>
          <p:nvPr/>
        </p:nvSpPr>
        <p:spPr>
          <a:xfrm>
            <a:off x="457200" y="1737360"/>
            <a:ext cx="1188720" cy="292608"/>
          </a:xfrm>
          <a:prstGeom prst="rect">
            <a:avLst/>
          </a:prstGeom>
          <a:noFill/>
          <a:ln/>
        </p:spPr>
        <p:txBody>
          <a:bodyPr wrap="square" lIns="0" tIns="0" rIns="0" bIns="0" rtlCol="0" anchor="ctr"/>
          <a:lstStyle/>
          <a:p>
            <a:pPr algn="ctr" indent="0" marL="0">
              <a:buNone/>
            </a:pPr>
            <a:r>
              <a:rPr lang="en-US" sz="900" b="1" dirty="0">
                <a:solidFill>
                  <a:srgbClr val="1E40AF"/>
                </a:solidFill>
              </a:rPr>
              <a:t>Rank-based</a:t>
            </a:r>
            <a:endParaRPr lang="en-US" sz="900" dirty="0"/>
          </a:p>
        </p:txBody>
      </p:sp>
      <p:sp>
        <p:nvSpPr>
          <p:cNvPr id="10" name="Text 8"/>
          <p:cNvSpPr/>
          <p:nvPr/>
        </p:nvSpPr>
        <p:spPr>
          <a:xfrm>
            <a:off x="457200" y="2176272"/>
            <a:ext cx="2395728" cy="2423160"/>
          </a:xfrm>
          <a:prstGeom prst="rect">
            <a:avLst/>
          </a:prstGeom>
          <a:noFill/>
          <a:ln/>
        </p:spPr>
        <p:txBody>
          <a:bodyPr wrap="square" rtlCol="0" anchor="ctr"/>
          <a:lstStyle/>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Converts expression ranks into a non-parametric enrichment score.</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Score range is approximately –1 to +1.</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Less sensitive to outlier samples than sum-based methods.</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Good for detecting subtle, consistent shifts across groups.</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Best for: detecting moderate, coordinated pathway activity.</a:t>
            </a:r>
            <a:endParaRPr lang="en-US" sz="1050" dirty="0"/>
          </a:p>
        </p:txBody>
      </p:sp>
      <p:sp>
        <p:nvSpPr>
          <p:cNvPr id="11" name="Shape 9"/>
          <p:cNvSpPr/>
          <p:nvPr/>
        </p:nvSpPr>
        <p:spPr>
          <a:xfrm>
            <a:off x="3218688" y="804672"/>
            <a:ext cx="2651760" cy="397764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218688" y="804672"/>
            <a:ext cx="2651760" cy="73152"/>
          </a:xfrm>
          <a:prstGeom prst="rect">
            <a:avLst/>
          </a:prstGeom>
          <a:solidFill>
            <a:srgbClr val="059669"/>
          </a:solidFill>
          <a:ln w="12700">
            <a:solidFill>
              <a:srgbClr val="059669"/>
            </a:solidFill>
            <a:prstDash val="solid"/>
          </a:ln>
        </p:spPr>
      </p:sp>
      <p:sp>
        <p:nvSpPr>
          <p:cNvPr id="13" name="Text 11"/>
          <p:cNvSpPr/>
          <p:nvPr/>
        </p:nvSpPr>
        <p:spPr>
          <a:xfrm>
            <a:off x="3355848" y="941832"/>
            <a:ext cx="2377440" cy="457200"/>
          </a:xfrm>
          <a:prstGeom prst="rect">
            <a:avLst/>
          </a:prstGeom>
          <a:noFill/>
          <a:ln/>
        </p:spPr>
        <p:txBody>
          <a:bodyPr wrap="square" rtlCol="0" anchor="ctr"/>
          <a:lstStyle/>
          <a:p>
            <a:pPr algn="l" indent="0" marL="0">
              <a:buNone/>
            </a:pPr>
            <a:r>
              <a:rPr lang="en-US" sz="2000" b="1" dirty="0">
                <a:solidFill>
                  <a:srgbClr val="059669"/>
                </a:solidFill>
                <a:latin typeface="Calibri" pitchFamily="34" charset="0"/>
                <a:ea typeface="Calibri" pitchFamily="34" charset="-122"/>
                <a:cs typeface="Calibri" pitchFamily="34" charset="-120"/>
              </a:rPr>
              <a:t>ssGSEA</a:t>
            </a:r>
            <a:endParaRPr lang="en-US" sz="2000" dirty="0"/>
          </a:p>
        </p:txBody>
      </p:sp>
      <p:sp>
        <p:nvSpPr>
          <p:cNvPr id="14" name="Text 12"/>
          <p:cNvSpPr/>
          <p:nvPr/>
        </p:nvSpPr>
        <p:spPr>
          <a:xfrm>
            <a:off x="3355848" y="1371600"/>
            <a:ext cx="2377440" cy="320040"/>
          </a:xfrm>
          <a:prstGeom prst="rect">
            <a:avLst/>
          </a:prstGeom>
          <a:noFill/>
          <a:ln/>
        </p:spPr>
        <p:txBody>
          <a:bodyPr wrap="square" rtlCol="0" anchor="ctr"/>
          <a:lstStyle/>
          <a:p>
            <a:pPr algn="l" indent="0" marL="0">
              <a:buNone/>
            </a:pPr>
            <a:r>
              <a:rPr lang="en-US" sz="1000" i="1" dirty="0">
                <a:solidFill>
                  <a:srgbClr val="4A6274"/>
                </a:solidFill>
                <a:latin typeface="Calibri" pitchFamily="34" charset="0"/>
                <a:ea typeface="Calibri" pitchFamily="34" charset="-122"/>
                <a:cs typeface="Calibri" pitchFamily="34" charset="-120"/>
              </a:rPr>
              <a:t>Single-sample GSEA</a:t>
            </a:r>
            <a:endParaRPr lang="en-US" sz="1000" dirty="0"/>
          </a:p>
        </p:txBody>
      </p:sp>
      <p:sp>
        <p:nvSpPr>
          <p:cNvPr id="15" name="Shape 13"/>
          <p:cNvSpPr/>
          <p:nvPr/>
        </p:nvSpPr>
        <p:spPr>
          <a:xfrm>
            <a:off x="3355848" y="1737360"/>
            <a:ext cx="1188720" cy="292608"/>
          </a:xfrm>
          <a:prstGeom prst="roundRect">
            <a:avLst>
              <a:gd name="adj" fmla="val 31250"/>
            </a:avLst>
          </a:prstGeom>
          <a:solidFill>
            <a:srgbClr val="D1FAE5"/>
          </a:solidFill>
          <a:ln w="12700">
            <a:solidFill>
              <a:srgbClr val="D1FAE5"/>
            </a:solidFill>
            <a:prstDash val="solid"/>
          </a:ln>
        </p:spPr>
      </p:sp>
      <p:sp>
        <p:nvSpPr>
          <p:cNvPr id="16" name="Text 14"/>
          <p:cNvSpPr/>
          <p:nvPr/>
        </p:nvSpPr>
        <p:spPr>
          <a:xfrm>
            <a:off x="3355848" y="1737360"/>
            <a:ext cx="1188720" cy="292608"/>
          </a:xfrm>
          <a:prstGeom prst="rect">
            <a:avLst/>
          </a:prstGeom>
          <a:noFill/>
          <a:ln/>
        </p:spPr>
        <p:txBody>
          <a:bodyPr wrap="square" lIns="0" tIns="0" rIns="0" bIns="0" rtlCol="0" anchor="ctr"/>
          <a:lstStyle/>
          <a:p>
            <a:pPr algn="ctr" indent="0" marL="0">
              <a:buNone/>
            </a:pPr>
            <a:r>
              <a:rPr lang="en-US" sz="900" b="1" dirty="0">
                <a:solidFill>
                  <a:srgbClr val="065F46"/>
                </a:solidFill>
              </a:rPr>
              <a:t>Enrichment</a:t>
            </a:r>
            <a:endParaRPr lang="en-US" sz="900" dirty="0"/>
          </a:p>
        </p:txBody>
      </p:sp>
      <p:sp>
        <p:nvSpPr>
          <p:cNvPr id="17" name="Text 15"/>
          <p:cNvSpPr/>
          <p:nvPr/>
        </p:nvSpPr>
        <p:spPr>
          <a:xfrm>
            <a:off x="3355848" y="2176272"/>
            <a:ext cx="2395728" cy="2423160"/>
          </a:xfrm>
          <a:prstGeom prst="rect">
            <a:avLst/>
          </a:prstGeom>
          <a:noFill/>
          <a:ln/>
        </p:spPr>
        <p:txBody>
          <a:bodyPr wrap="square" rtlCol="0" anchor="ctr"/>
          <a:lstStyle/>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Projects each sample onto a pathway enrichment score independently.</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Based on cumulative gene rank distribution — not relative to other samples.</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Scores are normalized within each sample (0–1 after normalization).</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Can be more sensitive but also more influenced by highly expressed genes.</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Best for: strong activation signals in individual samples.</a:t>
            </a:r>
            <a:endParaRPr lang="en-US" sz="1050" dirty="0"/>
          </a:p>
        </p:txBody>
      </p:sp>
      <p:sp>
        <p:nvSpPr>
          <p:cNvPr id="18" name="Shape 16"/>
          <p:cNvSpPr/>
          <p:nvPr/>
        </p:nvSpPr>
        <p:spPr>
          <a:xfrm>
            <a:off x="6117336" y="804672"/>
            <a:ext cx="2651760" cy="397764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117336" y="804672"/>
            <a:ext cx="2651760" cy="73152"/>
          </a:xfrm>
          <a:prstGeom prst="rect">
            <a:avLst/>
          </a:prstGeom>
          <a:solidFill>
            <a:srgbClr val="7C3AED"/>
          </a:solidFill>
          <a:ln w="12700">
            <a:solidFill>
              <a:srgbClr val="7C3AED"/>
            </a:solidFill>
            <a:prstDash val="solid"/>
          </a:ln>
        </p:spPr>
      </p:sp>
      <p:sp>
        <p:nvSpPr>
          <p:cNvPr id="20" name="Text 18"/>
          <p:cNvSpPr/>
          <p:nvPr/>
        </p:nvSpPr>
        <p:spPr>
          <a:xfrm>
            <a:off x="6254496" y="941832"/>
            <a:ext cx="2377440" cy="457200"/>
          </a:xfrm>
          <a:prstGeom prst="rect">
            <a:avLst/>
          </a:prstGeom>
          <a:noFill/>
          <a:ln/>
        </p:spPr>
        <p:txBody>
          <a:bodyPr wrap="square" rtlCol="0" anchor="ctr"/>
          <a:lstStyle/>
          <a:p>
            <a:pPr algn="l" indent="0" marL="0">
              <a:buNone/>
            </a:pPr>
            <a:r>
              <a:rPr lang="en-US" sz="2000" b="1" dirty="0">
                <a:solidFill>
                  <a:srgbClr val="7C3AED"/>
                </a:solidFill>
                <a:latin typeface="Calibri" pitchFamily="34" charset="0"/>
                <a:ea typeface="Calibri" pitchFamily="34" charset="-122"/>
                <a:cs typeface="Calibri" pitchFamily="34" charset="-120"/>
              </a:rPr>
              <a:t>singscore</a:t>
            </a:r>
            <a:endParaRPr lang="en-US" sz="2000" dirty="0"/>
          </a:p>
        </p:txBody>
      </p:sp>
      <p:sp>
        <p:nvSpPr>
          <p:cNvPr id="21" name="Text 19"/>
          <p:cNvSpPr/>
          <p:nvPr/>
        </p:nvSpPr>
        <p:spPr>
          <a:xfrm>
            <a:off x="6254496" y="1371600"/>
            <a:ext cx="2377440" cy="320040"/>
          </a:xfrm>
          <a:prstGeom prst="rect">
            <a:avLst/>
          </a:prstGeom>
          <a:noFill/>
          <a:ln/>
        </p:spPr>
        <p:txBody>
          <a:bodyPr wrap="square" rtlCol="0" anchor="ctr"/>
          <a:lstStyle/>
          <a:p>
            <a:pPr algn="l" indent="0" marL="0">
              <a:buNone/>
            </a:pPr>
            <a:r>
              <a:rPr lang="en-US" sz="1000" i="1" dirty="0">
                <a:solidFill>
                  <a:srgbClr val="4A6274"/>
                </a:solidFill>
                <a:latin typeface="Calibri" pitchFamily="34" charset="0"/>
                <a:ea typeface="Calibri" pitchFamily="34" charset="-122"/>
                <a:cs typeface="Calibri" pitchFamily="34" charset="-120"/>
              </a:rPr>
              <a:t>Single-sample Scoring</a:t>
            </a:r>
            <a:endParaRPr lang="en-US" sz="1000" dirty="0"/>
          </a:p>
        </p:txBody>
      </p:sp>
      <p:sp>
        <p:nvSpPr>
          <p:cNvPr id="22" name="Shape 20"/>
          <p:cNvSpPr/>
          <p:nvPr/>
        </p:nvSpPr>
        <p:spPr>
          <a:xfrm>
            <a:off x="6254496" y="1737360"/>
            <a:ext cx="1188720" cy="292608"/>
          </a:xfrm>
          <a:prstGeom prst="roundRect">
            <a:avLst>
              <a:gd name="adj" fmla="val 31250"/>
            </a:avLst>
          </a:prstGeom>
          <a:solidFill>
            <a:srgbClr val="EDE9FE"/>
          </a:solidFill>
          <a:ln w="12700">
            <a:solidFill>
              <a:srgbClr val="EDE9FE"/>
            </a:solidFill>
            <a:prstDash val="solid"/>
          </a:ln>
        </p:spPr>
      </p:sp>
      <p:sp>
        <p:nvSpPr>
          <p:cNvPr id="23" name="Text 21"/>
          <p:cNvSpPr/>
          <p:nvPr/>
        </p:nvSpPr>
        <p:spPr>
          <a:xfrm>
            <a:off x="6254496" y="1737360"/>
            <a:ext cx="1188720" cy="292608"/>
          </a:xfrm>
          <a:prstGeom prst="rect">
            <a:avLst/>
          </a:prstGeom>
          <a:noFill/>
          <a:ln/>
        </p:spPr>
        <p:txBody>
          <a:bodyPr wrap="square" lIns="0" tIns="0" rIns="0" bIns="0" rtlCol="0" anchor="ctr"/>
          <a:lstStyle/>
          <a:p>
            <a:pPr algn="ctr" indent="0" marL="0">
              <a:buNone/>
            </a:pPr>
            <a:r>
              <a:rPr lang="en-US" sz="900" b="1" dirty="0">
                <a:solidFill>
                  <a:srgbClr val="4C1D95"/>
                </a:solidFill>
              </a:rPr>
              <a:t>Directional</a:t>
            </a:r>
            <a:endParaRPr lang="en-US" sz="900" dirty="0"/>
          </a:p>
        </p:txBody>
      </p:sp>
      <p:sp>
        <p:nvSpPr>
          <p:cNvPr id="24" name="Text 22"/>
          <p:cNvSpPr/>
          <p:nvPr/>
        </p:nvSpPr>
        <p:spPr>
          <a:xfrm>
            <a:off x="6254496" y="2176272"/>
            <a:ext cx="2395728" cy="2423160"/>
          </a:xfrm>
          <a:prstGeom prst="rect">
            <a:avLst/>
          </a:prstGeom>
          <a:noFill/>
          <a:ln/>
        </p:spPr>
        <p:txBody>
          <a:bodyPr wrap="square" rtlCol="0" anchor="ctr"/>
          <a:lstStyle/>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Rank-based; accepts directional gene sets (up + down arms separately).</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Paired up/down sets yield a score that reflects net directionality.</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For unsigned sets, behaves similarly to ssGSEA.</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Score reflects both magnitude and direction of coordinated expression.</a:t>
            </a:r>
            <a:endParaRPr lang="en-US" sz="1050" dirty="0"/>
          </a:p>
          <a:p>
            <a:pPr algn="l" marL="342900" indent="-342900">
              <a:spcAft>
                <a:spcPts val="500"/>
              </a:spcAft>
              <a:buSzPct val="100000"/>
              <a:buChar char="•"/>
            </a:pPr>
            <a:r>
              <a:rPr lang="en-US" sz="1050" dirty="0">
                <a:solidFill>
                  <a:srgbClr val="1A2535"/>
                </a:solidFill>
                <a:latin typeface="Calibri" pitchFamily="34" charset="0"/>
                <a:ea typeface="Calibri" pitchFamily="34" charset="-122"/>
                <a:cs typeface="Calibri" pitchFamily="34" charset="-120"/>
              </a:rPr>
              <a:t>Best for: gene sets with known up/down structure (e.g., pathway signatures).</a:t>
            </a:r>
            <a:endParaRPr lang="en-US" sz="1050" dirty="0"/>
          </a:p>
        </p:txBody>
      </p:sp>
      <p:sp>
        <p:nvSpPr>
          <p:cNvPr id="25" name="Text 23"/>
          <p:cNvSpPr/>
          <p:nvPr/>
        </p:nvSpPr>
        <p:spPr>
          <a:xfrm>
            <a:off x="320040" y="4846320"/>
            <a:ext cx="8503920" cy="201168"/>
          </a:xfrm>
          <a:prstGeom prst="rect">
            <a:avLst/>
          </a:prstGeom>
          <a:noFill/>
          <a:ln/>
        </p:spPr>
        <p:txBody>
          <a:bodyPr wrap="square" rtlCol="0" anchor="ctr"/>
          <a:lstStyle/>
          <a:p>
            <a:pPr algn="l" indent="0" marL="0">
              <a:buNone/>
            </a:pPr>
            <a:r>
              <a:rPr lang="en-US" sz="900" i="1" dirty="0">
                <a:solidFill>
                  <a:srgbClr val="4A6274"/>
                </a:solidFill>
              </a:rPr>
              <a:t>All three methods produce a pathway × sample score matrix. Consistent signals across methods carry the most weight.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What the script outputs</a:t>
            </a:r>
            <a:endParaRPr lang="en-US" sz="2200" dirty="0"/>
          </a:p>
        </p:txBody>
      </p:sp>
      <p:sp>
        <p:nvSpPr>
          <p:cNvPr id="4" name="Shape 2"/>
          <p:cNvSpPr/>
          <p:nvPr/>
        </p:nvSpPr>
        <p:spPr>
          <a:xfrm>
            <a:off x="274320" y="804672"/>
            <a:ext cx="4206240" cy="347472"/>
          </a:xfrm>
          <a:prstGeom prst="rect">
            <a:avLst/>
          </a:prstGeom>
          <a:solidFill>
            <a:srgbClr val="0369A1"/>
          </a:solidFill>
          <a:ln w="12700">
            <a:solidFill>
              <a:srgbClr val="0369A1"/>
            </a:solidFill>
            <a:prstDash val="solid"/>
          </a:ln>
        </p:spPr>
      </p:sp>
      <p:sp>
        <p:nvSpPr>
          <p:cNvPr id="5" name="Text 3"/>
          <p:cNvSpPr/>
          <p:nvPr/>
        </p:nvSpPr>
        <p:spPr>
          <a:xfrm>
            <a:off x="384048" y="804672"/>
            <a:ext cx="402336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QC &amp; setup</a:t>
            </a:r>
            <a:endParaRPr lang="en-US" sz="1100" dirty="0"/>
          </a:p>
        </p:txBody>
      </p:sp>
      <p:sp>
        <p:nvSpPr>
          <p:cNvPr id="6" name="Shape 4"/>
          <p:cNvSpPr/>
          <p:nvPr/>
        </p:nvSpPr>
        <p:spPr>
          <a:xfrm>
            <a:off x="274320" y="1152144"/>
            <a:ext cx="4206240" cy="429768"/>
          </a:xfrm>
          <a:prstGeom prst="rect">
            <a:avLst/>
          </a:prstGeom>
          <a:solidFill>
            <a:srgbClr val="FFFFFF"/>
          </a:solidFill>
          <a:ln w="3810">
            <a:solidFill>
              <a:srgbClr val="D8E8F5"/>
            </a:solidFill>
            <a:prstDash val="solid"/>
          </a:ln>
        </p:spPr>
      </p:sp>
      <p:sp>
        <p:nvSpPr>
          <p:cNvPr id="7" name="Text 5"/>
          <p:cNvSpPr/>
          <p:nvPr/>
        </p:nvSpPr>
        <p:spPr>
          <a:xfrm>
            <a:off x="365760" y="1152144"/>
            <a:ext cx="457200" cy="429768"/>
          </a:xfrm>
          <a:prstGeom prst="rect">
            <a:avLst/>
          </a:prstGeom>
          <a:noFill/>
          <a:ln/>
        </p:spPr>
        <p:txBody>
          <a:bodyPr wrap="square" rtlCol="0" anchor="ctr"/>
          <a:lstStyle/>
          <a:p>
            <a:pPr algn="ctr" indent="0" marL="0">
              <a:buNone/>
            </a:pPr>
            <a:r>
              <a:rPr lang="en-US" sz="900" b="1" dirty="0">
                <a:solidFill>
                  <a:srgbClr val="0369A1"/>
                </a:solidFill>
                <a:latin typeface="Calibri" pitchFamily="34" charset="0"/>
                <a:ea typeface="Calibri" pitchFamily="34" charset="-122"/>
                <a:cs typeface="Calibri" pitchFamily="34" charset="-120"/>
              </a:rPr>
              <a:t>00</a:t>
            </a:r>
            <a:endParaRPr lang="en-US" sz="900" dirty="0"/>
          </a:p>
        </p:txBody>
      </p:sp>
      <p:sp>
        <p:nvSpPr>
          <p:cNvPr id="8" name="Text 6"/>
          <p:cNvSpPr/>
          <p:nvPr/>
        </p:nvSpPr>
        <p:spPr>
          <a:xfrm>
            <a:off x="868680" y="1152144"/>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run_parameters.txt</a:t>
            </a:r>
            <a:endParaRPr lang="en-US" sz="900" dirty="0"/>
          </a:p>
        </p:txBody>
      </p:sp>
      <p:sp>
        <p:nvSpPr>
          <p:cNvPr id="9" name="Text 7"/>
          <p:cNvSpPr/>
          <p:nvPr/>
        </p:nvSpPr>
        <p:spPr>
          <a:xfrm>
            <a:off x="2304288" y="1152144"/>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All settings, R version, package versions, file paths</a:t>
            </a:r>
            <a:endParaRPr lang="en-US" sz="900" dirty="0"/>
          </a:p>
        </p:txBody>
      </p:sp>
      <p:sp>
        <p:nvSpPr>
          <p:cNvPr id="10" name="Shape 8"/>
          <p:cNvSpPr/>
          <p:nvPr/>
        </p:nvSpPr>
        <p:spPr>
          <a:xfrm>
            <a:off x="274320" y="1581912"/>
            <a:ext cx="4206240" cy="429768"/>
          </a:xfrm>
          <a:prstGeom prst="rect">
            <a:avLst/>
          </a:prstGeom>
          <a:solidFill>
            <a:srgbClr val="E8F4FC"/>
          </a:solidFill>
          <a:ln w="3810">
            <a:solidFill>
              <a:srgbClr val="D8E8F5"/>
            </a:solidFill>
            <a:prstDash val="solid"/>
          </a:ln>
        </p:spPr>
      </p:sp>
      <p:sp>
        <p:nvSpPr>
          <p:cNvPr id="11" name="Text 9"/>
          <p:cNvSpPr/>
          <p:nvPr/>
        </p:nvSpPr>
        <p:spPr>
          <a:xfrm>
            <a:off x="365760" y="1581912"/>
            <a:ext cx="457200" cy="429768"/>
          </a:xfrm>
          <a:prstGeom prst="rect">
            <a:avLst/>
          </a:prstGeom>
          <a:noFill/>
          <a:ln/>
        </p:spPr>
        <p:txBody>
          <a:bodyPr wrap="square" rtlCol="0" anchor="ctr"/>
          <a:lstStyle/>
          <a:p>
            <a:pPr algn="ctr" indent="0" marL="0">
              <a:buNone/>
            </a:pPr>
            <a:r>
              <a:rPr lang="en-US" sz="900" b="1" dirty="0">
                <a:solidFill>
                  <a:srgbClr val="0369A1"/>
                </a:solidFill>
                <a:latin typeface="Calibri" pitchFamily="34" charset="0"/>
                <a:ea typeface="Calibri" pitchFamily="34" charset="-122"/>
                <a:cs typeface="Calibri" pitchFamily="34" charset="-120"/>
              </a:rPr>
              <a:t>01</a:t>
            </a:r>
            <a:endParaRPr lang="en-US" sz="900" dirty="0"/>
          </a:p>
        </p:txBody>
      </p:sp>
      <p:sp>
        <p:nvSpPr>
          <p:cNvPr id="12" name="Text 10"/>
          <p:cNvSpPr/>
          <p:nvPr/>
        </p:nvSpPr>
        <p:spPr>
          <a:xfrm>
            <a:off x="868680" y="1581912"/>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sample_metadata.csv</a:t>
            </a:r>
            <a:endParaRPr lang="en-US" sz="900" dirty="0"/>
          </a:p>
        </p:txBody>
      </p:sp>
      <p:sp>
        <p:nvSpPr>
          <p:cNvPr id="13" name="Text 11"/>
          <p:cNvSpPr/>
          <p:nvPr/>
        </p:nvSpPr>
        <p:spPr>
          <a:xfrm>
            <a:off x="2304288" y="1581912"/>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Which columns became samples, groups, replicates</a:t>
            </a:r>
            <a:endParaRPr lang="en-US" sz="900" dirty="0"/>
          </a:p>
        </p:txBody>
      </p:sp>
      <p:sp>
        <p:nvSpPr>
          <p:cNvPr id="14" name="Shape 12"/>
          <p:cNvSpPr/>
          <p:nvPr/>
        </p:nvSpPr>
        <p:spPr>
          <a:xfrm>
            <a:off x="274320" y="2011680"/>
            <a:ext cx="4206240" cy="429768"/>
          </a:xfrm>
          <a:prstGeom prst="rect">
            <a:avLst/>
          </a:prstGeom>
          <a:solidFill>
            <a:srgbClr val="FFFFFF"/>
          </a:solidFill>
          <a:ln w="3810">
            <a:solidFill>
              <a:srgbClr val="D8E8F5"/>
            </a:solidFill>
            <a:prstDash val="solid"/>
          </a:ln>
        </p:spPr>
      </p:sp>
      <p:sp>
        <p:nvSpPr>
          <p:cNvPr id="15" name="Text 13"/>
          <p:cNvSpPr/>
          <p:nvPr/>
        </p:nvSpPr>
        <p:spPr>
          <a:xfrm>
            <a:off x="365760" y="2011680"/>
            <a:ext cx="457200" cy="429768"/>
          </a:xfrm>
          <a:prstGeom prst="rect">
            <a:avLst/>
          </a:prstGeom>
          <a:noFill/>
          <a:ln/>
        </p:spPr>
        <p:txBody>
          <a:bodyPr wrap="square" rtlCol="0" anchor="ctr"/>
          <a:lstStyle/>
          <a:p>
            <a:pPr algn="ctr" indent="0" marL="0">
              <a:buNone/>
            </a:pPr>
            <a:r>
              <a:rPr lang="en-US" sz="900" b="1" dirty="0">
                <a:solidFill>
                  <a:srgbClr val="0369A1"/>
                </a:solidFill>
                <a:latin typeface="Calibri" pitchFamily="34" charset="0"/>
                <a:ea typeface="Calibri" pitchFamily="34" charset="-122"/>
                <a:cs typeface="Calibri" pitchFamily="34" charset="-120"/>
              </a:rPr>
              <a:t>02</a:t>
            </a:r>
            <a:endParaRPr lang="en-US" sz="900" dirty="0"/>
          </a:p>
        </p:txBody>
      </p:sp>
      <p:sp>
        <p:nvSpPr>
          <p:cNvPr id="16" name="Text 14"/>
          <p:cNvSpPr/>
          <p:nvPr/>
        </p:nvSpPr>
        <p:spPr>
          <a:xfrm>
            <a:off x="868680" y="2011680"/>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gene_id_mapping_summ.</a:t>
            </a:r>
            <a:endParaRPr lang="en-US" sz="900" dirty="0"/>
          </a:p>
        </p:txBody>
      </p:sp>
      <p:sp>
        <p:nvSpPr>
          <p:cNvPr id="17" name="Text 15"/>
          <p:cNvSpPr/>
          <p:nvPr/>
        </p:nvSpPr>
        <p:spPr>
          <a:xfrm>
            <a:off x="2304288" y="2011680"/>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ID resolution summary + duplicate collapse counts</a:t>
            </a:r>
            <a:endParaRPr lang="en-US" sz="900" dirty="0"/>
          </a:p>
        </p:txBody>
      </p:sp>
      <p:sp>
        <p:nvSpPr>
          <p:cNvPr id="18" name="Shape 16"/>
          <p:cNvSpPr/>
          <p:nvPr/>
        </p:nvSpPr>
        <p:spPr>
          <a:xfrm>
            <a:off x="274320" y="2441448"/>
            <a:ext cx="4206240" cy="429768"/>
          </a:xfrm>
          <a:prstGeom prst="rect">
            <a:avLst/>
          </a:prstGeom>
          <a:solidFill>
            <a:srgbClr val="E8F4FC"/>
          </a:solidFill>
          <a:ln w="3810">
            <a:solidFill>
              <a:srgbClr val="D8E8F5"/>
            </a:solidFill>
            <a:prstDash val="solid"/>
          </a:ln>
        </p:spPr>
      </p:sp>
      <p:sp>
        <p:nvSpPr>
          <p:cNvPr id="19" name="Text 17"/>
          <p:cNvSpPr/>
          <p:nvPr/>
        </p:nvSpPr>
        <p:spPr>
          <a:xfrm>
            <a:off x="365760" y="2441448"/>
            <a:ext cx="457200" cy="429768"/>
          </a:xfrm>
          <a:prstGeom prst="rect">
            <a:avLst/>
          </a:prstGeom>
          <a:noFill/>
          <a:ln/>
        </p:spPr>
        <p:txBody>
          <a:bodyPr wrap="square" rtlCol="0" anchor="ctr"/>
          <a:lstStyle/>
          <a:p>
            <a:pPr algn="ctr" indent="0" marL="0">
              <a:buNone/>
            </a:pPr>
            <a:r>
              <a:rPr lang="en-US" sz="900" b="1" dirty="0">
                <a:solidFill>
                  <a:srgbClr val="0369A1"/>
                </a:solidFill>
                <a:latin typeface="Calibri" pitchFamily="34" charset="0"/>
                <a:ea typeface="Calibri" pitchFamily="34" charset="-122"/>
                <a:cs typeface="Calibri" pitchFamily="34" charset="-120"/>
              </a:rPr>
              <a:t>03</a:t>
            </a:r>
            <a:endParaRPr lang="en-US" sz="900" dirty="0"/>
          </a:p>
        </p:txBody>
      </p:sp>
      <p:sp>
        <p:nvSpPr>
          <p:cNvPr id="20" name="Text 18"/>
          <p:cNvSpPr/>
          <p:nvPr/>
        </p:nvSpPr>
        <p:spPr>
          <a:xfrm>
            <a:off x="868680" y="2441448"/>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gene_set_coverage.csv</a:t>
            </a:r>
            <a:endParaRPr lang="en-US" sz="900" dirty="0"/>
          </a:p>
        </p:txBody>
      </p:sp>
      <p:sp>
        <p:nvSpPr>
          <p:cNvPr id="21" name="Text 19"/>
          <p:cNvSpPr/>
          <p:nvPr/>
        </p:nvSpPr>
        <p:spPr>
          <a:xfrm>
            <a:off x="2304288" y="2441448"/>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Coverage % per pathway; gsva/singscore inclusion status</a:t>
            </a:r>
            <a:endParaRPr lang="en-US" sz="900" dirty="0"/>
          </a:p>
        </p:txBody>
      </p:sp>
      <p:sp>
        <p:nvSpPr>
          <p:cNvPr id="22" name="Shape 20"/>
          <p:cNvSpPr/>
          <p:nvPr/>
        </p:nvSpPr>
        <p:spPr>
          <a:xfrm>
            <a:off x="4846320" y="804672"/>
            <a:ext cx="4206240" cy="347472"/>
          </a:xfrm>
          <a:prstGeom prst="rect">
            <a:avLst/>
          </a:prstGeom>
          <a:solidFill>
            <a:srgbClr val="059669"/>
          </a:solidFill>
          <a:ln w="12700">
            <a:solidFill>
              <a:srgbClr val="059669"/>
            </a:solidFill>
            <a:prstDash val="solid"/>
          </a:ln>
        </p:spPr>
      </p:sp>
      <p:sp>
        <p:nvSpPr>
          <p:cNvPr id="23" name="Text 21"/>
          <p:cNvSpPr/>
          <p:nvPr/>
        </p:nvSpPr>
        <p:spPr>
          <a:xfrm>
            <a:off x="4956048" y="804672"/>
            <a:ext cx="402336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Score matrices</a:t>
            </a:r>
            <a:endParaRPr lang="en-US" sz="1100" dirty="0"/>
          </a:p>
        </p:txBody>
      </p:sp>
      <p:sp>
        <p:nvSpPr>
          <p:cNvPr id="24" name="Shape 22"/>
          <p:cNvSpPr/>
          <p:nvPr/>
        </p:nvSpPr>
        <p:spPr>
          <a:xfrm>
            <a:off x="4846320" y="1152144"/>
            <a:ext cx="4206240" cy="429768"/>
          </a:xfrm>
          <a:prstGeom prst="rect">
            <a:avLst/>
          </a:prstGeom>
          <a:solidFill>
            <a:srgbClr val="FFFFFF"/>
          </a:solidFill>
          <a:ln w="3810">
            <a:solidFill>
              <a:srgbClr val="D8E8F5"/>
            </a:solidFill>
            <a:prstDash val="solid"/>
          </a:ln>
        </p:spPr>
      </p:sp>
      <p:sp>
        <p:nvSpPr>
          <p:cNvPr id="25" name="Text 23"/>
          <p:cNvSpPr/>
          <p:nvPr/>
        </p:nvSpPr>
        <p:spPr>
          <a:xfrm>
            <a:off x="4937760" y="1152144"/>
            <a:ext cx="457200" cy="429768"/>
          </a:xfrm>
          <a:prstGeom prst="rect">
            <a:avLst/>
          </a:prstGeom>
          <a:noFill/>
          <a:ln/>
        </p:spPr>
        <p:txBody>
          <a:bodyPr wrap="square"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04</a:t>
            </a:r>
            <a:endParaRPr lang="en-US" sz="900" dirty="0"/>
          </a:p>
        </p:txBody>
      </p:sp>
      <p:sp>
        <p:nvSpPr>
          <p:cNvPr id="26" name="Text 24"/>
          <p:cNvSpPr/>
          <p:nvPr/>
        </p:nvSpPr>
        <p:spPr>
          <a:xfrm>
            <a:off x="5440680" y="1152144"/>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scores_gsva.csv</a:t>
            </a:r>
            <a:endParaRPr lang="en-US" sz="900" dirty="0"/>
          </a:p>
        </p:txBody>
      </p:sp>
      <p:sp>
        <p:nvSpPr>
          <p:cNvPr id="27" name="Text 25"/>
          <p:cNvSpPr/>
          <p:nvPr/>
        </p:nvSpPr>
        <p:spPr>
          <a:xfrm>
            <a:off x="6876288" y="1152144"/>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Pathway × sample matrix — GSVA scores</a:t>
            </a:r>
            <a:endParaRPr lang="en-US" sz="900" dirty="0"/>
          </a:p>
        </p:txBody>
      </p:sp>
      <p:sp>
        <p:nvSpPr>
          <p:cNvPr id="28" name="Shape 26"/>
          <p:cNvSpPr/>
          <p:nvPr/>
        </p:nvSpPr>
        <p:spPr>
          <a:xfrm>
            <a:off x="4846320" y="1581912"/>
            <a:ext cx="4206240" cy="429768"/>
          </a:xfrm>
          <a:prstGeom prst="rect">
            <a:avLst/>
          </a:prstGeom>
          <a:solidFill>
            <a:srgbClr val="E8F4FC"/>
          </a:solidFill>
          <a:ln w="3810">
            <a:solidFill>
              <a:srgbClr val="D8E8F5"/>
            </a:solidFill>
            <a:prstDash val="solid"/>
          </a:ln>
        </p:spPr>
      </p:sp>
      <p:sp>
        <p:nvSpPr>
          <p:cNvPr id="29" name="Text 27"/>
          <p:cNvSpPr/>
          <p:nvPr/>
        </p:nvSpPr>
        <p:spPr>
          <a:xfrm>
            <a:off x="4937760" y="1581912"/>
            <a:ext cx="457200" cy="429768"/>
          </a:xfrm>
          <a:prstGeom prst="rect">
            <a:avLst/>
          </a:prstGeom>
          <a:noFill/>
          <a:ln/>
        </p:spPr>
        <p:txBody>
          <a:bodyPr wrap="square"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05</a:t>
            </a:r>
            <a:endParaRPr lang="en-US" sz="900" dirty="0"/>
          </a:p>
        </p:txBody>
      </p:sp>
      <p:sp>
        <p:nvSpPr>
          <p:cNvPr id="30" name="Text 28"/>
          <p:cNvSpPr/>
          <p:nvPr/>
        </p:nvSpPr>
        <p:spPr>
          <a:xfrm>
            <a:off x="5440680" y="1581912"/>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scores_ssgsea.csv</a:t>
            </a:r>
            <a:endParaRPr lang="en-US" sz="900" dirty="0"/>
          </a:p>
        </p:txBody>
      </p:sp>
      <p:sp>
        <p:nvSpPr>
          <p:cNvPr id="31" name="Text 29"/>
          <p:cNvSpPr/>
          <p:nvPr/>
        </p:nvSpPr>
        <p:spPr>
          <a:xfrm>
            <a:off x="6876288" y="1581912"/>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Pathway × sample matrix — ssGSEA scores</a:t>
            </a:r>
            <a:endParaRPr lang="en-US" sz="900" dirty="0"/>
          </a:p>
        </p:txBody>
      </p:sp>
      <p:sp>
        <p:nvSpPr>
          <p:cNvPr id="32" name="Shape 30"/>
          <p:cNvSpPr/>
          <p:nvPr/>
        </p:nvSpPr>
        <p:spPr>
          <a:xfrm>
            <a:off x="4846320" y="2011680"/>
            <a:ext cx="4206240" cy="429768"/>
          </a:xfrm>
          <a:prstGeom prst="rect">
            <a:avLst/>
          </a:prstGeom>
          <a:solidFill>
            <a:srgbClr val="FFFFFF"/>
          </a:solidFill>
          <a:ln w="3810">
            <a:solidFill>
              <a:srgbClr val="D8E8F5"/>
            </a:solidFill>
            <a:prstDash val="solid"/>
          </a:ln>
        </p:spPr>
      </p:sp>
      <p:sp>
        <p:nvSpPr>
          <p:cNvPr id="33" name="Text 31"/>
          <p:cNvSpPr/>
          <p:nvPr/>
        </p:nvSpPr>
        <p:spPr>
          <a:xfrm>
            <a:off x="4937760" y="2011680"/>
            <a:ext cx="457200" cy="429768"/>
          </a:xfrm>
          <a:prstGeom prst="rect">
            <a:avLst/>
          </a:prstGeom>
          <a:noFill/>
          <a:ln/>
        </p:spPr>
        <p:txBody>
          <a:bodyPr wrap="square"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06</a:t>
            </a:r>
            <a:endParaRPr lang="en-US" sz="900" dirty="0"/>
          </a:p>
        </p:txBody>
      </p:sp>
      <p:sp>
        <p:nvSpPr>
          <p:cNvPr id="34" name="Text 32"/>
          <p:cNvSpPr/>
          <p:nvPr/>
        </p:nvSpPr>
        <p:spPr>
          <a:xfrm>
            <a:off x="5440680" y="2011680"/>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scores_singscore.csv</a:t>
            </a:r>
            <a:endParaRPr lang="en-US" sz="900" dirty="0"/>
          </a:p>
        </p:txBody>
      </p:sp>
      <p:sp>
        <p:nvSpPr>
          <p:cNvPr id="35" name="Text 33"/>
          <p:cNvSpPr/>
          <p:nvPr/>
        </p:nvSpPr>
        <p:spPr>
          <a:xfrm>
            <a:off x="6876288" y="2011680"/>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Pathway × sample matrix — singscore scores</a:t>
            </a:r>
            <a:endParaRPr lang="en-US" sz="900" dirty="0"/>
          </a:p>
        </p:txBody>
      </p:sp>
      <p:sp>
        <p:nvSpPr>
          <p:cNvPr id="36" name="Shape 34"/>
          <p:cNvSpPr/>
          <p:nvPr/>
        </p:nvSpPr>
        <p:spPr>
          <a:xfrm>
            <a:off x="4846320" y="2441448"/>
            <a:ext cx="4206240" cy="429768"/>
          </a:xfrm>
          <a:prstGeom prst="rect">
            <a:avLst/>
          </a:prstGeom>
          <a:solidFill>
            <a:srgbClr val="E8F4FC"/>
          </a:solidFill>
          <a:ln w="3810">
            <a:solidFill>
              <a:srgbClr val="D8E8F5"/>
            </a:solidFill>
            <a:prstDash val="solid"/>
          </a:ln>
        </p:spPr>
      </p:sp>
      <p:sp>
        <p:nvSpPr>
          <p:cNvPr id="37" name="Text 35"/>
          <p:cNvSpPr/>
          <p:nvPr/>
        </p:nvSpPr>
        <p:spPr>
          <a:xfrm>
            <a:off x="4937760" y="2441448"/>
            <a:ext cx="457200" cy="429768"/>
          </a:xfrm>
          <a:prstGeom prst="rect">
            <a:avLst/>
          </a:prstGeom>
          <a:noFill/>
          <a:ln/>
        </p:spPr>
        <p:txBody>
          <a:bodyPr wrap="square" rtlCol="0" anchor="ctr"/>
          <a:lstStyle/>
          <a:p>
            <a:pPr algn="ctr" indent="0" marL="0">
              <a:buNone/>
            </a:pPr>
            <a:r>
              <a:rPr lang="en-US" sz="900" b="1" dirty="0">
                <a:solidFill>
                  <a:srgbClr val="059669"/>
                </a:solidFill>
                <a:latin typeface="Calibri" pitchFamily="34" charset="0"/>
                <a:ea typeface="Calibri" pitchFamily="34" charset="-122"/>
                <a:cs typeface="Calibri" pitchFamily="34" charset="-120"/>
              </a:rPr>
              <a:t>07–09</a:t>
            </a:r>
            <a:endParaRPr lang="en-US" sz="900" dirty="0"/>
          </a:p>
        </p:txBody>
      </p:sp>
      <p:sp>
        <p:nvSpPr>
          <p:cNvPr id="38" name="Text 36"/>
          <p:cNvSpPr/>
          <p:nvPr/>
        </p:nvSpPr>
        <p:spPr>
          <a:xfrm>
            <a:off x="5440680" y="2441448"/>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scores_long_*.csv</a:t>
            </a:r>
            <a:endParaRPr lang="en-US" sz="900" dirty="0"/>
          </a:p>
        </p:txBody>
      </p:sp>
      <p:sp>
        <p:nvSpPr>
          <p:cNvPr id="39" name="Text 37"/>
          <p:cNvSpPr/>
          <p:nvPr/>
        </p:nvSpPr>
        <p:spPr>
          <a:xfrm>
            <a:off x="6876288" y="2441448"/>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Long-format (pathway, sample, group, score) per method</a:t>
            </a:r>
            <a:endParaRPr lang="en-US" sz="900" dirty="0"/>
          </a:p>
        </p:txBody>
      </p:sp>
      <p:sp>
        <p:nvSpPr>
          <p:cNvPr id="40" name="Shape 38"/>
          <p:cNvSpPr/>
          <p:nvPr/>
        </p:nvSpPr>
        <p:spPr>
          <a:xfrm>
            <a:off x="274320" y="3054096"/>
            <a:ext cx="4206240" cy="347472"/>
          </a:xfrm>
          <a:prstGeom prst="rect">
            <a:avLst/>
          </a:prstGeom>
          <a:solidFill>
            <a:srgbClr val="7C3AED"/>
          </a:solidFill>
          <a:ln w="12700">
            <a:solidFill>
              <a:srgbClr val="7C3AED"/>
            </a:solidFill>
            <a:prstDash val="solid"/>
          </a:ln>
        </p:spPr>
      </p:sp>
      <p:sp>
        <p:nvSpPr>
          <p:cNvPr id="41" name="Text 39"/>
          <p:cNvSpPr/>
          <p:nvPr/>
        </p:nvSpPr>
        <p:spPr>
          <a:xfrm>
            <a:off x="384048" y="3054096"/>
            <a:ext cx="402336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Statistics</a:t>
            </a:r>
            <a:endParaRPr lang="en-US" sz="1100" dirty="0"/>
          </a:p>
        </p:txBody>
      </p:sp>
      <p:sp>
        <p:nvSpPr>
          <p:cNvPr id="42" name="Shape 40"/>
          <p:cNvSpPr/>
          <p:nvPr/>
        </p:nvSpPr>
        <p:spPr>
          <a:xfrm>
            <a:off x="274320" y="3401568"/>
            <a:ext cx="4206240" cy="429768"/>
          </a:xfrm>
          <a:prstGeom prst="rect">
            <a:avLst/>
          </a:prstGeom>
          <a:solidFill>
            <a:srgbClr val="FFFFFF"/>
          </a:solidFill>
          <a:ln w="3810">
            <a:solidFill>
              <a:srgbClr val="D8E8F5"/>
            </a:solidFill>
            <a:prstDash val="solid"/>
          </a:ln>
        </p:spPr>
      </p:sp>
      <p:sp>
        <p:nvSpPr>
          <p:cNvPr id="43" name="Text 41"/>
          <p:cNvSpPr/>
          <p:nvPr/>
        </p:nvSpPr>
        <p:spPr>
          <a:xfrm>
            <a:off x="365760" y="3401568"/>
            <a:ext cx="457200" cy="429768"/>
          </a:xfrm>
          <a:prstGeom prst="rect">
            <a:avLst/>
          </a:prstGeom>
          <a:noFill/>
          <a:ln/>
        </p:spPr>
        <p:txBody>
          <a:bodyPr wrap="square"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10</a:t>
            </a:r>
            <a:endParaRPr lang="en-US" sz="900" dirty="0"/>
          </a:p>
        </p:txBody>
      </p:sp>
      <p:sp>
        <p:nvSpPr>
          <p:cNvPr id="44" name="Text 42"/>
          <p:cNvSpPr/>
          <p:nvPr/>
        </p:nvSpPr>
        <p:spPr>
          <a:xfrm>
            <a:off x="868680" y="3401568"/>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stats_gsva.csv</a:t>
            </a:r>
            <a:endParaRPr lang="en-US" sz="900" dirty="0"/>
          </a:p>
        </p:txBody>
      </p:sp>
      <p:sp>
        <p:nvSpPr>
          <p:cNvPr id="45" name="Text 43"/>
          <p:cNvSpPr/>
          <p:nvPr/>
        </p:nvSpPr>
        <p:spPr>
          <a:xfrm>
            <a:off x="2304288" y="3401568"/>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Kruskal-Wallis + pairwise Wilcoxon (BH-adjusted) — GSVA</a:t>
            </a:r>
            <a:endParaRPr lang="en-US" sz="900" dirty="0"/>
          </a:p>
        </p:txBody>
      </p:sp>
      <p:sp>
        <p:nvSpPr>
          <p:cNvPr id="46" name="Shape 44"/>
          <p:cNvSpPr/>
          <p:nvPr/>
        </p:nvSpPr>
        <p:spPr>
          <a:xfrm>
            <a:off x="274320" y="3831336"/>
            <a:ext cx="4206240" cy="429768"/>
          </a:xfrm>
          <a:prstGeom prst="rect">
            <a:avLst/>
          </a:prstGeom>
          <a:solidFill>
            <a:srgbClr val="E8F4FC"/>
          </a:solidFill>
          <a:ln w="3810">
            <a:solidFill>
              <a:srgbClr val="D8E8F5"/>
            </a:solidFill>
            <a:prstDash val="solid"/>
          </a:ln>
        </p:spPr>
      </p:sp>
      <p:sp>
        <p:nvSpPr>
          <p:cNvPr id="47" name="Text 45"/>
          <p:cNvSpPr/>
          <p:nvPr/>
        </p:nvSpPr>
        <p:spPr>
          <a:xfrm>
            <a:off x="365760" y="3831336"/>
            <a:ext cx="457200" cy="429768"/>
          </a:xfrm>
          <a:prstGeom prst="rect">
            <a:avLst/>
          </a:prstGeom>
          <a:noFill/>
          <a:ln/>
        </p:spPr>
        <p:txBody>
          <a:bodyPr wrap="square"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11</a:t>
            </a:r>
            <a:endParaRPr lang="en-US" sz="900" dirty="0"/>
          </a:p>
        </p:txBody>
      </p:sp>
      <p:sp>
        <p:nvSpPr>
          <p:cNvPr id="48" name="Text 46"/>
          <p:cNvSpPr/>
          <p:nvPr/>
        </p:nvSpPr>
        <p:spPr>
          <a:xfrm>
            <a:off x="868680" y="3831336"/>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stats_ssgsea.csv</a:t>
            </a:r>
            <a:endParaRPr lang="en-US" sz="900" dirty="0"/>
          </a:p>
        </p:txBody>
      </p:sp>
      <p:sp>
        <p:nvSpPr>
          <p:cNvPr id="49" name="Text 47"/>
          <p:cNvSpPr/>
          <p:nvPr/>
        </p:nvSpPr>
        <p:spPr>
          <a:xfrm>
            <a:off x="2304288" y="3831336"/>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Same as above for ssGSEA</a:t>
            </a:r>
            <a:endParaRPr lang="en-US" sz="900" dirty="0"/>
          </a:p>
        </p:txBody>
      </p:sp>
      <p:sp>
        <p:nvSpPr>
          <p:cNvPr id="50" name="Shape 48"/>
          <p:cNvSpPr/>
          <p:nvPr/>
        </p:nvSpPr>
        <p:spPr>
          <a:xfrm>
            <a:off x="274320" y="4261104"/>
            <a:ext cx="4206240" cy="429768"/>
          </a:xfrm>
          <a:prstGeom prst="rect">
            <a:avLst/>
          </a:prstGeom>
          <a:solidFill>
            <a:srgbClr val="FFFFFF"/>
          </a:solidFill>
          <a:ln w="3810">
            <a:solidFill>
              <a:srgbClr val="D8E8F5"/>
            </a:solidFill>
            <a:prstDash val="solid"/>
          </a:ln>
        </p:spPr>
      </p:sp>
      <p:sp>
        <p:nvSpPr>
          <p:cNvPr id="51" name="Text 49"/>
          <p:cNvSpPr/>
          <p:nvPr/>
        </p:nvSpPr>
        <p:spPr>
          <a:xfrm>
            <a:off x="365760" y="4261104"/>
            <a:ext cx="457200" cy="429768"/>
          </a:xfrm>
          <a:prstGeom prst="rect">
            <a:avLst/>
          </a:prstGeom>
          <a:noFill/>
          <a:ln/>
        </p:spPr>
        <p:txBody>
          <a:bodyPr wrap="square"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12</a:t>
            </a:r>
            <a:endParaRPr lang="en-US" sz="900" dirty="0"/>
          </a:p>
        </p:txBody>
      </p:sp>
      <p:sp>
        <p:nvSpPr>
          <p:cNvPr id="52" name="Text 50"/>
          <p:cNvSpPr/>
          <p:nvPr/>
        </p:nvSpPr>
        <p:spPr>
          <a:xfrm>
            <a:off x="868680" y="4261104"/>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stats_singscore.csv</a:t>
            </a:r>
            <a:endParaRPr lang="en-US" sz="900" dirty="0"/>
          </a:p>
        </p:txBody>
      </p:sp>
      <p:sp>
        <p:nvSpPr>
          <p:cNvPr id="53" name="Text 51"/>
          <p:cNvSpPr/>
          <p:nvPr/>
        </p:nvSpPr>
        <p:spPr>
          <a:xfrm>
            <a:off x="2304288" y="4261104"/>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Same as above for singscore</a:t>
            </a:r>
            <a:endParaRPr lang="en-US" sz="900" dirty="0"/>
          </a:p>
        </p:txBody>
      </p:sp>
      <p:sp>
        <p:nvSpPr>
          <p:cNvPr id="54" name="Shape 52"/>
          <p:cNvSpPr/>
          <p:nvPr/>
        </p:nvSpPr>
        <p:spPr>
          <a:xfrm>
            <a:off x="4846320" y="3054096"/>
            <a:ext cx="4206240" cy="347472"/>
          </a:xfrm>
          <a:prstGeom prst="rect">
            <a:avLst/>
          </a:prstGeom>
          <a:solidFill>
            <a:srgbClr val="F59E0B"/>
          </a:solidFill>
          <a:ln w="12700">
            <a:solidFill>
              <a:srgbClr val="F59E0B"/>
            </a:solidFill>
            <a:prstDash val="solid"/>
          </a:ln>
        </p:spPr>
      </p:sp>
      <p:sp>
        <p:nvSpPr>
          <p:cNvPr id="55" name="Text 53"/>
          <p:cNvSpPr/>
          <p:nvPr/>
        </p:nvSpPr>
        <p:spPr>
          <a:xfrm>
            <a:off x="4956048" y="3054096"/>
            <a:ext cx="4023360" cy="347472"/>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Plots  (plots/ subfolder)</a:t>
            </a:r>
            <a:endParaRPr lang="en-US" sz="1100" dirty="0"/>
          </a:p>
        </p:txBody>
      </p:sp>
      <p:sp>
        <p:nvSpPr>
          <p:cNvPr id="56" name="Shape 54"/>
          <p:cNvSpPr/>
          <p:nvPr/>
        </p:nvSpPr>
        <p:spPr>
          <a:xfrm>
            <a:off x="4846320" y="3401568"/>
            <a:ext cx="4206240" cy="429768"/>
          </a:xfrm>
          <a:prstGeom prst="rect">
            <a:avLst/>
          </a:prstGeom>
          <a:solidFill>
            <a:srgbClr val="FFFFFF"/>
          </a:solidFill>
          <a:ln w="3810">
            <a:solidFill>
              <a:srgbClr val="D8E8F5"/>
            </a:solidFill>
            <a:prstDash val="solid"/>
          </a:ln>
        </p:spPr>
      </p:sp>
      <p:sp>
        <p:nvSpPr>
          <p:cNvPr id="57" name="Text 55"/>
          <p:cNvSpPr/>
          <p:nvPr/>
        </p:nvSpPr>
        <p:spPr>
          <a:xfrm>
            <a:off x="4937760" y="3401568"/>
            <a:ext cx="457200" cy="429768"/>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t>
            </a:r>
            <a:endParaRPr lang="en-US" sz="900" dirty="0"/>
          </a:p>
        </p:txBody>
      </p:sp>
      <p:sp>
        <p:nvSpPr>
          <p:cNvPr id="58" name="Text 56"/>
          <p:cNvSpPr/>
          <p:nvPr/>
        </p:nvSpPr>
        <p:spPr>
          <a:xfrm>
            <a:off x="5440680" y="3401568"/>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heatmap_*.pdf</a:t>
            </a:r>
            <a:endParaRPr lang="en-US" sz="900" dirty="0"/>
          </a:p>
        </p:txBody>
      </p:sp>
      <p:sp>
        <p:nvSpPr>
          <p:cNvPr id="59" name="Text 57"/>
          <p:cNvSpPr/>
          <p:nvPr/>
        </p:nvSpPr>
        <p:spPr>
          <a:xfrm>
            <a:off x="6876288" y="3401568"/>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Raw + row-scaled pathway score heatmap, per method</a:t>
            </a:r>
            <a:endParaRPr lang="en-US" sz="900" dirty="0"/>
          </a:p>
        </p:txBody>
      </p:sp>
      <p:sp>
        <p:nvSpPr>
          <p:cNvPr id="60" name="Shape 58"/>
          <p:cNvSpPr/>
          <p:nvPr/>
        </p:nvSpPr>
        <p:spPr>
          <a:xfrm>
            <a:off x="4846320" y="3831336"/>
            <a:ext cx="4206240" cy="429768"/>
          </a:xfrm>
          <a:prstGeom prst="rect">
            <a:avLst/>
          </a:prstGeom>
          <a:solidFill>
            <a:srgbClr val="E8F4FC"/>
          </a:solidFill>
          <a:ln w="3810">
            <a:solidFill>
              <a:srgbClr val="D8E8F5"/>
            </a:solidFill>
            <a:prstDash val="solid"/>
          </a:ln>
        </p:spPr>
      </p:sp>
      <p:sp>
        <p:nvSpPr>
          <p:cNvPr id="61" name="Text 59"/>
          <p:cNvSpPr/>
          <p:nvPr/>
        </p:nvSpPr>
        <p:spPr>
          <a:xfrm>
            <a:off x="4937760" y="3831336"/>
            <a:ext cx="457200" cy="429768"/>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t>
            </a:r>
            <a:endParaRPr lang="en-US" sz="900" dirty="0"/>
          </a:p>
        </p:txBody>
      </p:sp>
      <p:sp>
        <p:nvSpPr>
          <p:cNvPr id="62" name="Text 60"/>
          <p:cNvSpPr/>
          <p:nvPr/>
        </p:nvSpPr>
        <p:spPr>
          <a:xfrm>
            <a:off x="5440680" y="3831336"/>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boxplots_*.pdf</a:t>
            </a:r>
            <a:endParaRPr lang="en-US" sz="900" dirty="0"/>
          </a:p>
        </p:txBody>
      </p:sp>
      <p:sp>
        <p:nvSpPr>
          <p:cNvPr id="63" name="Text 61"/>
          <p:cNvSpPr/>
          <p:nvPr/>
        </p:nvSpPr>
        <p:spPr>
          <a:xfrm>
            <a:off x="6876288" y="3831336"/>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Score distribution by group, per pathway, per method</a:t>
            </a:r>
            <a:endParaRPr lang="en-US" sz="900" dirty="0"/>
          </a:p>
        </p:txBody>
      </p:sp>
      <p:sp>
        <p:nvSpPr>
          <p:cNvPr id="64" name="Shape 62"/>
          <p:cNvSpPr/>
          <p:nvPr/>
        </p:nvSpPr>
        <p:spPr>
          <a:xfrm>
            <a:off x="4846320" y="4261104"/>
            <a:ext cx="4206240" cy="429768"/>
          </a:xfrm>
          <a:prstGeom prst="rect">
            <a:avLst/>
          </a:prstGeom>
          <a:solidFill>
            <a:srgbClr val="FFFFFF"/>
          </a:solidFill>
          <a:ln w="3810">
            <a:solidFill>
              <a:srgbClr val="D8E8F5"/>
            </a:solidFill>
            <a:prstDash val="solid"/>
          </a:ln>
        </p:spPr>
      </p:sp>
      <p:sp>
        <p:nvSpPr>
          <p:cNvPr id="65" name="Text 63"/>
          <p:cNvSpPr/>
          <p:nvPr/>
        </p:nvSpPr>
        <p:spPr>
          <a:xfrm>
            <a:off x="4937760" y="4261104"/>
            <a:ext cx="457200" cy="429768"/>
          </a:xfrm>
          <a:prstGeom prst="rect">
            <a:avLst/>
          </a:prstGeom>
          <a:noFill/>
          <a:ln/>
        </p:spPr>
        <p:txBody>
          <a:bodyPr wrap="square"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a:t>
            </a:r>
            <a:endParaRPr lang="en-US" sz="900" dirty="0"/>
          </a:p>
        </p:txBody>
      </p:sp>
      <p:sp>
        <p:nvSpPr>
          <p:cNvPr id="66" name="Text 64"/>
          <p:cNvSpPr/>
          <p:nvPr/>
        </p:nvSpPr>
        <p:spPr>
          <a:xfrm>
            <a:off x="5440680" y="4261104"/>
            <a:ext cx="1417320" cy="429768"/>
          </a:xfrm>
          <a:prstGeom prst="rect">
            <a:avLst/>
          </a:prstGeom>
          <a:noFill/>
          <a:ln/>
        </p:spPr>
        <p:txBody>
          <a:bodyPr wrap="square" rtlCol="0" anchor="ctr"/>
          <a:lstStyle/>
          <a:p>
            <a:pPr algn="l" indent="0" marL="0">
              <a:buNone/>
            </a:pPr>
            <a:r>
              <a:rPr lang="en-US" sz="900" b="1" dirty="0">
                <a:solidFill>
                  <a:srgbClr val="1A2535"/>
                </a:solidFill>
                <a:latin typeface="Calibri" pitchFamily="34" charset="0"/>
                <a:ea typeface="Calibri" pitchFamily="34" charset="-122"/>
                <a:cs typeface="Calibri" pitchFamily="34" charset="-120"/>
              </a:rPr>
              <a:t>pca_*.pdf</a:t>
            </a:r>
            <a:endParaRPr lang="en-US" sz="900" dirty="0"/>
          </a:p>
        </p:txBody>
      </p:sp>
      <p:sp>
        <p:nvSpPr>
          <p:cNvPr id="67" name="Text 65"/>
          <p:cNvSpPr/>
          <p:nvPr/>
        </p:nvSpPr>
        <p:spPr>
          <a:xfrm>
            <a:off x="6876288" y="4261104"/>
            <a:ext cx="2084832" cy="429768"/>
          </a:xfrm>
          <a:prstGeom prst="rect">
            <a:avLst/>
          </a:prstGeom>
          <a:noFill/>
          <a:ln/>
        </p:spPr>
        <p:txBody>
          <a:bodyPr wrap="square" rtlCol="0" anchor="ctr"/>
          <a:lstStyle/>
          <a:p>
            <a:pPr algn="l" indent="0" marL="0">
              <a:buNone/>
            </a:pPr>
            <a:r>
              <a:rPr lang="en-US" sz="900" dirty="0">
                <a:solidFill>
                  <a:srgbClr val="4A6274"/>
                </a:solidFill>
                <a:latin typeface="Calibri" pitchFamily="34" charset="0"/>
                <a:ea typeface="Calibri" pitchFamily="34" charset="-122"/>
                <a:cs typeface="Calibri" pitchFamily="34" charset="-120"/>
              </a:rPr>
              <a:t>PCA of samples in pathway-score space, per method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How to evaluate a single pathway result</a:t>
            </a:r>
            <a:endParaRPr lang="en-US" sz="2200" dirty="0"/>
          </a:p>
        </p:txBody>
      </p:sp>
      <p:sp>
        <p:nvSpPr>
          <p:cNvPr id="4" name="Shape 2"/>
          <p:cNvSpPr/>
          <p:nvPr/>
        </p:nvSpPr>
        <p:spPr>
          <a:xfrm>
            <a:off x="320040" y="822960"/>
            <a:ext cx="2624328"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2624328" cy="73152"/>
          </a:xfrm>
          <a:prstGeom prst="rect">
            <a:avLst/>
          </a:prstGeom>
          <a:solidFill>
            <a:srgbClr val="0369A1"/>
          </a:solidFill>
          <a:ln w="12700">
            <a:solidFill>
              <a:srgbClr val="0369A1"/>
            </a:solidFill>
            <a:prstDash val="solid"/>
          </a:ln>
        </p:spPr>
      </p:sp>
      <p:sp>
        <p:nvSpPr>
          <p:cNvPr id="6" name="Shape 4"/>
          <p:cNvSpPr/>
          <p:nvPr/>
        </p:nvSpPr>
        <p:spPr>
          <a:xfrm>
            <a:off x="484632" y="987552"/>
            <a:ext cx="457200" cy="457200"/>
          </a:xfrm>
          <a:prstGeom prst="ellipse">
            <a:avLst/>
          </a:prstGeom>
          <a:solidFill>
            <a:srgbClr val="0369A1"/>
          </a:solidFill>
          <a:ln w="12700">
            <a:solidFill>
              <a:srgbClr val="0369A1"/>
            </a:solidFill>
            <a:prstDash val="solid"/>
          </a:ln>
        </p:spPr>
      </p:sp>
      <p:sp>
        <p:nvSpPr>
          <p:cNvPr id="7" name="Text 5"/>
          <p:cNvSpPr/>
          <p:nvPr/>
        </p:nvSpPr>
        <p:spPr>
          <a:xfrm>
            <a:off x="484632" y="987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Text 6"/>
          <p:cNvSpPr/>
          <p:nvPr/>
        </p:nvSpPr>
        <p:spPr>
          <a:xfrm>
            <a:off x="429768" y="1536192"/>
            <a:ext cx="2441448" cy="438912"/>
          </a:xfrm>
          <a:prstGeom prst="rect">
            <a:avLst/>
          </a:prstGeom>
          <a:noFill/>
          <a:ln/>
        </p:spPr>
        <p:txBody>
          <a:bodyPr wrap="square" rtlCol="0" anchor="ctr"/>
          <a:lstStyle/>
          <a:p>
            <a:pPr algn="l" indent="0" marL="0">
              <a:buNone/>
            </a:pPr>
            <a:r>
              <a:rPr lang="en-US" sz="1250" b="1" dirty="0">
                <a:solidFill>
                  <a:srgbClr val="0369A1"/>
                </a:solidFill>
                <a:latin typeface="Calibri" pitchFamily="34" charset="0"/>
                <a:ea typeface="Calibri" pitchFamily="34" charset="-122"/>
                <a:cs typeface="Calibri" pitchFamily="34" charset="-120"/>
              </a:rPr>
              <a:t>Check coverage first</a:t>
            </a:r>
            <a:endParaRPr lang="en-US" sz="1250" dirty="0"/>
          </a:p>
        </p:txBody>
      </p:sp>
      <p:sp>
        <p:nvSpPr>
          <p:cNvPr id="9" name="Text 7"/>
          <p:cNvSpPr/>
          <p:nvPr/>
        </p:nvSpPr>
        <p:spPr>
          <a:xfrm>
            <a:off x="429768" y="1975104"/>
            <a:ext cx="2441448" cy="274320"/>
          </a:xfrm>
          <a:prstGeom prst="rect">
            <a:avLst/>
          </a:prstGeom>
          <a:noFill/>
          <a:ln/>
        </p:spPr>
        <p:txBody>
          <a:bodyPr wrap="square" rtlCol="0" anchor="ctr"/>
          <a:lstStyle/>
          <a:p>
            <a:pPr algn="l" indent="0" marL="0">
              <a:buNone/>
            </a:pPr>
            <a:r>
              <a:rPr lang="en-US" sz="950" i="1" dirty="0">
                <a:solidFill>
                  <a:srgbClr val="4A6274"/>
                </a:solidFill>
                <a:latin typeface="Calibri" pitchFamily="34" charset="0"/>
                <a:ea typeface="Calibri" pitchFamily="34" charset="-122"/>
                <a:cs typeface="Calibri" pitchFamily="34" charset="-120"/>
              </a:rPr>
              <a:t>Open 03_gene_set_coverage.csv</a:t>
            </a:r>
            <a:endParaRPr lang="en-US" sz="950" dirty="0"/>
          </a:p>
        </p:txBody>
      </p:sp>
      <p:sp>
        <p:nvSpPr>
          <p:cNvPr id="10" name="Text 8"/>
          <p:cNvSpPr/>
          <p:nvPr/>
        </p:nvSpPr>
        <p:spPr>
          <a:xfrm>
            <a:off x="429768" y="2286000"/>
            <a:ext cx="2423160" cy="1828800"/>
          </a:xfrm>
          <a:prstGeom prst="rect">
            <a:avLst/>
          </a:prstGeom>
          <a:noFill/>
          <a:ln/>
        </p:spPr>
        <p:txBody>
          <a:bodyPr wrap="square" rtlCol="0" anchor="ctr"/>
          <a:lstStyle/>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What fraction of the gene set was found in your expression matrix?</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Low coverage (&lt;30–40%) → score is noisier; interpret cautiously.</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Both gsva_ssgsea_status and singscore_mode should read 'included' / 'unsigned' or 'paired_up_down', not 'excluded'.</a:t>
            </a:r>
            <a:endParaRPr lang="en-US" sz="1050" dirty="0"/>
          </a:p>
        </p:txBody>
      </p:sp>
      <p:sp>
        <p:nvSpPr>
          <p:cNvPr id="11" name="Shape 9"/>
          <p:cNvSpPr/>
          <p:nvPr/>
        </p:nvSpPr>
        <p:spPr>
          <a:xfrm>
            <a:off x="3191256" y="822960"/>
            <a:ext cx="2624328"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3191256" y="822960"/>
            <a:ext cx="2624328" cy="73152"/>
          </a:xfrm>
          <a:prstGeom prst="rect">
            <a:avLst/>
          </a:prstGeom>
          <a:solidFill>
            <a:srgbClr val="059669"/>
          </a:solidFill>
          <a:ln w="12700">
            <a:solidFill>
              <a:srgbClr val="059669"/>
            </a:solidFill>
            <a:prstDash val="solid"/>
          </a:ln>
        </p:spPr>
      </p:sp>
      <p:sp>
        <p:nvSpPr>
          <p:cNvPr id="13" name="Shape 11"/>
          <p:cNvSpPr/>
          <p:nvPr/>
        </p:nvSpPr>
        <p:spPr>
          <a:xfrm>
            <a:off x="3355848" y="987552"/>
            <a:ext cx="457200" cy="457200"/>
          </a:xfrm>
          <a:prstGeom prst="ellipse">
            <a:avLst/>
          </a:prstGeom>
          <a:solidFill>
            <a:srgbClr val="059669"/>
          </a:solidFill>
          <a:ln w="12700">
            <a:solidFill>
              <a:srgbClr val="059669"/>
            </a:solidFill>
            <a:prstDash val="solid"/>
          </a:ln>
        </p:spPr>
      </p:sp>
      <p:sp>
        <p:nvSpPr>
          <p:cNvPr id="14" name="Text 12"/>
          <p:cNvSpPr/>
          <p:nvPr/>
        </p:nvSpPr>
        <p:spPr>
          <a:xfrm>
            <a:off x="3355848" y="987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5" name="Text 13"/>
          <p:cNvSpPr/>
          <p:nvPr/>
        </p:nvSpPr>
        <p:spPr>
          <a:xfrm>
            <a:off x="3300984" y="1536192"/>
            <a:ext cx="2441448" cy="438912"/>
          </a:xfrm>
          <a:prstGeom prst="rect">
            <a:avLst/>
          </a:prstGeom>
          <a:noFill/>
          <a:ln/>
        </p:spPr>
        <p:txBody>
          <a:bodyPr wrap="square" rtlCol="0" anchor="ctr"/>
          <a:lstStyle/>
          <a:p>
            <a:pPr algn="l" indent="0" marL="0">
              <a:buNone/>
            </a:pPr>
            <a:r>
              <a:rPr lang="en-US" sz="1250" b="1" dirty="0">
                <a:solidFill>
                  <a:srgbClr val="059669"/>
                </a:solidFill>
                <a:latin typeface="Calibri" pitchFamily="34" charset="0"/>
                <a:ea typeface="Calibri" pitchFamily="34" charset="-122"/>
                <a:cs typeface="Calibri" pitchFamily="34" charset="-120"/>
              </a:rPr>
              <a:t>Direction of the group shift</a:t>
            </a:r>
            <a:endParaRPr lang="en-US" sz="1250" dirty="0"/>
          </a:p>
        </p:txBody>
      </p:sp>
      <p:sp>
        <p:nvSpPr>
          <p:cNvPr id="16" name="Text 14"/>
          <p:cNvSpPr/>
          <p:nvPr/>
        </p:nvSpPr>
        <p:spPr>
          <a:xfrm>
            <a:off x="3300984" y="1975104"/>
            <a:ext cx="2441448" cy="274320"/>
          </a:xfrm>
          <a:prstGeom prst="rect">
            <a:avLst/>
          </a:prstGeom>
          <a:noFill/>
          <a:ln/>
        </p:spPr>
        <p:txBody>
          <a:bodyPr wrap="square" rtlCol="0" anchor="ctr"/>
          <a:lstStyle/>
          <a:p>
            <a:pPr algn="l" indent="0" marL="0">
              <a:buNone/>
            </a:pPr>
            <a:r>
              <a:rPr lang="en-US" sz="950" i="1" dirty="0">
                <a:solidFill>
                  <a:srgbClr val="4A6274"/>
                </a:solidFill>
                <a:latin typeface="Calibri" pitchFamily="34" charset="0"/>
                <a:ea typeface="Calibri" pitchFamily="34" charset="-122"/>
                <a:cs typeface="Calibri" pitchFamily="34" charset="-120"/>
              </a:rPr>
              <a:t>Open the boxplots or stats tables</a:t>
            </a:r>
            <a:endParaRPr lang="en-US" sz="950" dirty="0"/>
          </a:p>
        </p:txBody>
      </p:sp>
      <p:sp>
        <p:nvSpPr>
          <p:cNvPr id="17" name="Text 15"/>
          <p:cNvSpPr/>
          <p:nvPr/>
        </p:nvSpPr>
        <p:spPr>
          <a:xfrm>
            <a:off x="3300984" y="2286000"/>
            <a:ext cx="2423160" cy="1828800"/>
          </a:xfrm>
          <a:prstGeom prst="rect">
            <a:avLst/>
          </a:prstGeom>
          <a:noFill/>
          <a:ln/>
        </p:spPr>
        <p:txBody>
          <a:bodyPr wrap="square" rtlCol="0" anchor="ctr"/>
          <a:lstStyle/>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Is one condition consistently scoring higher than the other?</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Look at the boxplot: is the shift visible at the sample level (not just in the median)?</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Check the stats table: p_adj &lt; 0.05 with consistent estimate direction.</a:t>
            </a:r>
            <a:endParaRPr lang="en-US" sz="1050" dirty="0"/>
          </a:p>
        </p:txBody>
      </p:sp>
      <p:sp>
        <p:nvSpPr>
          <p:cNvPr id="18" name="Shape 16"/>
          <p:cNvSpPr/>
          <p:nvPr/>
        </p:nvSpPr>
        <p:spPr>
          <a:xfrm>
            <a:off x="6062472" y="822960"/>
            <a:ext cx="2624328" cy="3474720"/>
          </a:xfrm>
          <a:prstGeom prst="rect">
            <a:avLst/>
          </a:prstGeom>
          <a:solidFill>
            <a:srgbClr val="FFFFFF"/>
          </a:solidFill>
          <a:ln w="6350">
            <a:solidFill>
              <a:srgbClr val="D1E5F5"/>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6062472" y="822960"/>
            <a:ext cx="2624328" cy="73152"/>
          </a:xfrm>
          <a:prstGeom prst="rect">
            <a:avLst/>
          </a:prstGeom>
          <a:solidFill>
            <a:srgbClr val="7C3AED"/>
          </a:solidFill>
          <a:ln w="12700">
            <a:solidFill>
              <a:srgbClr val="7C3AED"/>
            </a:solidFill>
            <a:prstDash val="solid"/>
          </a:ln>
        </p:spPr>
      </p:sp>
      <p:sp>
        <p:nvSpPr>
          <p:cNvPr id="20" name="Shape 18"/>
          <p:cNvSpPr/>
          <p:nvPr/>
        </p:nvSpPr>
        <p:spPr>
          <a:xfrm>
            <a:off x="6227064" y="987552"/>
            <a:ext cx="457200" cy="457200"/>
          </a:xfrm>
          <a:prstGeom prst="ellipse">
            <a:avLst/>
          </a:prstGeom>
          <a:solidFill>
            <a:srgbClr val="7C3AED"/>
          </a:solidFill>
          <a:ln w="12700">
            <a:solidFill>
              <a:srgbClr val="7C3AED"/>
            </a:solidFill>
            <a:prstDash val="solid"/>
          </a:ln>
        </p:spPr>
      </p:sp>
      <p:sp>
        <p:nvSpPr>
          <p:cNvPr id="21" name="Text 19"/>
          <p:cNvSpPr/>
          <p:nvPr/>
        </p:nvSpPr>
        <p:spPr>
          <a:xfrm>
            <a:off x="6227064" y="987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2" name="Text 20"/>
          <p:cNvSpPr/>
          <p:nvPr/>
        </p:nvSpPr>
        <p:spPr>
          <a:xfrm>
            <a:off x="6172200" y="1536192"/>
            <a:ext cx="2441448" cy="438912"/>
          </a:xfrm>
          <a:prstGeom prst="rect">
            <a:avLst/>
          </a:prstGeom>
          <a:noFill/>
          <a:ln/>
        </p:spPr>
        <p:txBody>
          <a:bodyPr wrap="square" rtlCol="0" anchor="ctr"/>
          <a:lstStyle/>
          <a:p>
            <a:pPr algn="l" indent="0" marL="0">
              <a:buNone/>
            </a:pPr>
            <a:r>
              <a:rPr lang="en-US" sz="1250" b="1" dirty="0">
                <a:solidFill>
                  <a:srgbClr val="7C3AED"/>
                </a:solidFill>
                <a:latin typeface="Calibri" pitchFamily="34" charset="0"/>
                <a:ea typeface="Calibri" pitchFamily="34" charset="-122"/>
                <a:cs typeface="Calibri" pitchFamily="34" charset="-120"/>
              </a:rPr>
              <a:t>Consistency across methods</a:t>
            </a:r>
            <a:endParaRPr lang="en-US" sz="1250" dirty="0"/>
          </a:p>
        </p:txBody>
      </p:sp>
      <p:sp>
        <p:nvSpPr>
          <p:cNvPr id="23" name="Text 21"/>
          <p:cNvSpPr/>
          <p:nvPr/>
        </p:nvSpPr>
        <p:spPr>
          <a:xfrm>
            <a:off x="6172200" y="1975104"/>
            <a:ext cx="2441448" cy="274320"/>
          </a:xfrm>
          <a:prstGeom prst="rect">
            <a:avLst/>
          </a:prstGeom>
          <a:noFill/>
          <a:ln/>
        </p:spPr>
        <p:txBody>
          <a:bodyPr wrap="square" rtlCol="0" anchor="ctr"/>
          <a:lstStyle/>
          <a:p>
            <a:pPr algn="l" indent="0" marL="0">
              <a:buNone/>
            </a:pPr>
            <a:r>
              <a:rPr lang="en-US" sz="950" i="1" dirty="0">
                <a:solidFill>
                  <a:srgbClr val="4A6274"/>
                </a:solidFill>
                <a:latin typeface="Calibri" pitchFamily="34" charset="0"/>
                <a:ea typeface="Calibri" pitchFamily="34" charset="-122"/>
                <a:cs typeface="Calibri" pitchFamily="34" charset="-120"/>
              </a:rPr>
              <a:t>Compare GSVA, ssGSEA, singscore</a:t>
            </a:r>
            <a:endParaRPr lang="en-US" sz="950" dirty="0"/>
          </a:p>
        </p:txBody>
      </p:sp>
      <p:sp>
        <p:nvSpPr>
          <p:cNvPr id="24" name="Text 22"/>
          <p:cNvSpPr/>
          <p:nvPr/>
        </p:nvSpPr>
        <p:spPr>
          <a:xfrm>
            <a:off x="6172200" y="2286000"/>
            <a:ext cx="2423160" cy="1828800"/>
          </a:xfrm>
          <a:prstGeom prst="rect">
            <a:avLst/>
          </a:prstGeom>
          <a:noFill/>
          <a:ln/>
        </p:spPr>
        <p:txBody>
          <a:bodyPr wrap="square" rtlCol="0" anchor="ctr"/>
          <a:lstStyle/>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If all three methods show the same directional shift, the signal is robust.</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If only one method shows significance, treat the result as provisional.</a:t>
            </a:r>
            <a:endParaRPr lang="en-US" sz="1050" dirty="0"/>
          </a:p>
          <a:p>
            <a:pPr algn="l" marL="342900" indent="-342900">
              <a:spcAft>
                <a:spcPts val="600"/>
              </a:spcAft>
              <a:buSzPct val="100000"/>
              <a:buChar char="•"/>
            </a:pPr>
            <a:r>
              <a:rPr lang="en-US" sz="1050" dirty="0">
                <a:solidFill>
                  <a:srgbClr val="1A2535"/>
                </a:solidFill>
                <a:latin typeface="Calibri" pitchFamily="34" charset="0"/>
                <a:ea typeface="Calibri" pitchFamily="34" charset="-122"/>
                <a:cs typeface="Calibri" pitchFamily="34" charset="-120"/>
              </a:rPr>
              <a:t>Disagreement between methods often reflects sensitivity to outliers or set structure.</a:t>
            </a:r>
            <a:endParaRPr lang="en-US" sz="1050" dirty="0"/>
          </a:p>
        </p:txBody>
      </p:sp>
      <p:sp>
        <p:nvSpPr>
          <p:cNvPr id="25" name="Shape 23"/>
          <p:cNvSpPr/>
          <p:nvPr/>
        </p:nvSpPr>
        <p:spPr>
          <a:xfrm>
            <a:off x="320040" y="4407408"/>
            <a:ext cx="8503920" cy="502920"/>
          </a:xfrm>
          <a:prstGeom prst="rect">
            <a:avLst/>
          </a:prstGeom>
          <a:solidFill>
            <a:srgbClr val="EFF6FF"/>
          </a:solidFill>
          <a:ln w="6350">
            <a:solidFill>
              <a:srgbClr val="BFDBFE"/>
            </a:solidFill>
            <a:prstDash val="solid"/>
          </a:ln>
        </p:spPr>
      </p:sp>
      <p:sp>
        <p:nvSpPr>
          <p:cNvPr id="26" name="Text 24"/>
          <p:cNvSpPr/>
          <p:nvPr/>
        </p:nvSpPr>
        <p:spPr>
          <a:xfrm>
            <a:off x="502920" y="4407408"/>
            <a:ext cx="8229600" cy="502920"/>
          </a:xfrm>
          <a:prstGeom prst="rect">
            <a:avLst/>
          </a:prstGeom>
          <a:noFill/>
          <a:ln/>
        </p:spPr>
        <p:txBody>
          <a:bodyPr wrap="square" rtlCol="0" anchor="ctr"/>
          <a:lstStyle/>
          <a:p>
            <a:pPr algn="l" indent="0" marL="0">
              <a:buNone/>
            </a:pPr>
            <a:r>
              <a:rPr lang="en-US" sz="1100" b="1" dirty="0">
                <a:solidFill>
                  <a:srgbClr val="0A4A72"/>
                </a:solidFill>
                <a:latin typeface="Calibri" pitchFamily="34" charset="0"/>
                <a:ea typeface="Calibri" pitchFamily="34" charset="-122"/>
                <a:cs typeface="Calibri" pitchFamily="34" charset="-120"/>
              </a:rPr>
              <a:t>Strongest evidence: </a:t>
            </a:r>
            <a:pPr algn="l" indent="0" marL="0">
              <a:buNone/>
            </a:pPr>
            <a:r>
              <a:rPr lang="en-US" sz="1100" dirty="0">
                <a:solidFill>
                  <a:srgbClr val="1A2535"/>
                </a:solidFill>
                <a:latin typeface="Calibri" pitchFamily="34" charset="0"/>
                <a:ea typeface="Calibri" pitchFamily="34" charset="-122"/>
                <a:cs typeface="Calibri" pitchFamily="34" charset="-120"/>
              </a:rPr>
              <a:t>good coverage + visible sample-level shift + consistent direction across all three methods + p_adj &lt; 0.05.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4A72"/>
          </a:solidFill>
          <a:ln w="12700">
            <a:solidFill>
              <a:srgbClr val="0A4A72"/>
            </a:solidFill>
            <a:prstDash val="solid"/>
          </a:ln>
        </p:spPr>
      </p:sp>
      <p:sp>
        <p:nvSpPr>
          <p:cNvPr id="3" name="Text 1"/>
          <p:cNvSpPr/>
          <p:nvPr/>
        </p:nvSpPr>
        <p:spPr>
          <a:xfrm>
            <a:off x="320040" y="0"/>
            <a:ext cx="850392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How to frame the result without overselling it</a:t>
            </a:r>
            <a:endParaRPr lang="en-US" sz="2200" dirty="0"/>
          </a:p>
        </p:txBody>
      </p:sp>
      <p:sp>
        <p:nvSpPr>
          <p:cNvPr id="4" name="Shape 2"/>
          <p:cNvSpPr/>
          <p:nvPr/>
        </p:nvSpPr>
        <p:spPr>
          <a:xfrm>
            <a:off x="320040" y="822960"/>
            <a:ext cx="3931920" cy="3154680"/>
          </a:xfrm>
          <a:prstGeom prst="rect">
            <a:avLst/>
          </a:prstGeom>
          <a:solidFill>
            <a:srgbClr val="FFFFFF"/>
          </a:solidFill>
          <a:ln w="6350">
            <a:solidFill>
              <a:srgbClr val="E2EAF2"/>
            </a:solidFill>
            <a:prstDash val="solid"/>
          </a:ln>
          <a:effectLst>
            <a:outerShdw sx="100000" sy="100000" kx="0" ky="0" algn="bl" rotWithShape="0" blurRad="101600" dist="38100" dir="8100000">
              <a:srgbClr val="000000">
                <a:alpha val="12000"/>
              </a:srgbClr>
            </a:outerShdw>
          </a:effectLst>
        </p:spPr>
      </p:sp>
      <p:sp>
        <p:nvSpPr>
          <p:cNvPr id="5" name="Shape 3"/>
          <p:cNvSpPr/>
          <p:nvPr/>
        </p:nvSpPr>
        <p:spPr>
          <a:xfrm>
            <a:off x="320040" y="822960"/>
            <a:ext cx="64008" cy="3154680"/>
          </a:xfrm>
          <a:prstGeom prst="rect">
            <a:avLst/>
          </a:prstGeom>
          <a:solidFill>
            <a:srgbClr val="059669"/>
          </a:solidFill>
          <a:ln w="12700">
            <a:solidFill>
              <a:srgbClr val="059669"/>
            </a:solidFill>
            <a:prstDash val="solid"/>
          </a:ln>
        </p:spPr>
      </p:sp>
      <p:sp>
        <p:nvSpPr>
          <p:cNvPr id="6" name="Text 4"/>
          <p:cNvSpPr/>
          <p:nvPr/>
        </p:nvSpPr>
        <p:spPr>
          <a:xfrm>
            <a:off x="502920" y="896112"/>
            <a:ext cx="3520440" cy="384048"/>
          </a:xfrm>
          <a:prstGeom prst="rect">
            <a:avLst/>
          </a:prstGeom>
          <a:noFill/>
          <a:ln/>
        </p:spPr>
        <p:txBody>
          <a:bodyPr wrap="square" rtlCol="0" anchor="ctr"/>
          <a:lstStyle/>
          <a:p>
            <a:pPr algn="l" indent="0" marL="0">
              <a:buNone/>
            </a:pPr>
            <a:r>
              <a:rPr lang="en-US" sz="1300" b="1" dirty="0">
                <a:solidFill>
                  <a:srgbClr val="065F46"/>
                </a:solidFill>
                <a:latin typeface="Calibri" pitchFamily="34" charset="0"/>
                <a:ea typeface="Calibri" pitchFamily="34" charset="-122"/>
                <a:cs typeface="Calibri" pitchFamily="34" charset="-120"/>
              </a:rPr>
              <a:t>✓ Supported claims</a:t>
            </a:r>
            <a:endParaRPr lang="en-US" sz="1300" dirty="0"/>
          </a:p>
        </p:txBody>
      </p:sp>
      <p:sp>
        <p:nvSpPr>
          <p:cNvPr id="7" name="Text 5"/>
          <p:cNvSpPr/>
          <p:nvPr/>
        </p:nvSpPr>
        <p:spPr>
          <a:xfrm>
            <a:off x="502920" y="1335024"/>
            <a:ext cx="3520440" cy="2423160"/>
          </a:xfrm>
          <a:prstGeom prst="rect">
            <a:avLst/>
          </a:prstGeom>
          <a:noFill/>
          <a:ln/>
        </p:spPr>
        <p:txBody>
          <a:bodyPr wrap="square" rtlCol="0" anchor="ctr"/>
          <a:lstStyle/>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A pathway appears coordinately higher/lower across groups.</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The pattern is visible at the sample level, not just in one aggregate number.</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The signal is stronger when coverage is good and methods agree.</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This is a bridge from gene lists to biological program interpretation.</a:t>
            </a:r>
            <a:endParaRPr lang="en-US" sz="1150" dirty="0"/>
          </a:p>
        </p:txBody>
      </p:sp>
      <p:sp>
        <p:nvSpPr>
          <p:cNvPr id="8" name="Shape 6"/>
          <p:cNvSpPr/>
          <p:nvPr/>
        </p:nvSpPr>
        <p:spPr>
          <a:xfrm>
            <a:off x="4800600" y="822960"/>
            <a:ext cx="4023360" cy="3154680"/>
          </a:xfrm>
          <a:prstGeom prst="rect">
            <a:avLst/>
          </a:prstGeom>
          <a:solidFill>
            <a:srgbClr val="FFFFFF"/>
          </a:solidFill>
          <a:ln w="6350">
            <a:solidFill>
              <a:srgbClr val="E2EAF2"/>
            </a:solidFill>
            <a:prstDash val="solid"/>
          </a:ln>
          <a:effectLst>
            <a:outerShdw sx="100000" sy="100000" kx="0" ky="0" algn="bl" rotWithShape="0" blurRad="101600" dist="38100" dir="8100000">
              <a:srgbClr val="000000">
                <a:alpha val="12000"/>
              </a:srgbClr>
            </a:outerShdw>
          </a:effectLst>
        </p:spPr>
      </p:sp>
      <p:sp>
        <p:nvSpPr>
          <p:cNvPr id="9" name="Shape 7"/>
          <p:cNvSpPr/>
          <p:nvPr/>
        </p:nvSpPr>
        <p:spPr>
          <a:xfrm>
            <a:off x="4800600" y="822960"/>
            <a:ext cx="64008" cy="3154680"/>
          </a:xfrm>
          <a:prstGeom prst="rect">
            <a:avLst/>
          </a:prstGeom>
          <a:solidFill>
            <a:srgbClr val="E53E3E"/>
          </a:solidFill>
          <a:ln w="12700">
            <a:solidFill>
              <a:srgbClr val="E53E3E"/>
            </a:solidFill>
            <a:prstDash val="solid"/>
          </a:ln>
        </p:spPr>
      </p:sp>
      <p:sp>
        <p:nvSpPr>
          <p:cNvPr id="10" name="Text 8"/>
          <p:cNvSpPr/>
          <p:nvPr/>
        </p:nvSpPr>
        <p:spPr>
          <a:xfrm>
            <a:off x="4983480" y="896112"/>
            <a:ext cx="3611880" cy="384048"/>
          </a:xfrm>
          <a:prstGeom prst="rect">
            <a:avLst/>
          </a:prstGeom>
          <a:noFill/>
          <a:ln/>
        </p:spPr>
        <p:txBody>
          <a:bodyPr wrap="square" rtlCol="0" anchor="ctr"/>
          <a:lstStyle/>
          <a:p>
            <a:pPr algn="l" indent="0" marL="0">
              <a:buNone/>
            </a:pPr>
            <a:r>
              <a:rPr lang="en-US" sz="1300" b="1" dirty="0">
                <a:solidFill>
                  <a:srgbClr val="9B1C1C"/>
                </a:solidFill>
                <a:latin typeface="Calibri" pitchFamily="34" charset="0"/>
                <a:ea typeface="Calibri" pitchFamily="34" charset="-122"/>
                <a:cs typeface="Calibri" pitchFamily="34" charset="-120"/>
              </a:rPr>
              <a:t>✗ Don't overclaim</a:t>
            </a:r>
            <a:endParaRPr lang="en-US" sz="1300" dirty="0"/>
          </a:p>
        </p:txBody>
      </p:sp>
      <p:sp>
        <p:nvSpPr>
          <p:cNvPr id="11" name="Text 9"/>
          <p:cNvSpPr/>
          <p:nvPr/>
        </p:nvSpPr>
        <p:spPr>
          <a:xfrm>
            <a:off x="4983480" y="1335024"/>
            <a:ext cx="3611880" cy="2423160"/>
          </a:xfrm>
          <a:prstGeom prst="rect">
            <a:avLst/>
          </a:prstGeom>
          <a:noFill/>
          <a:ln/>
        </p:spPr>
        <p:txBody>
          <a:bodyPr wrap="square" rtlCol="0" anchor="ctr"/>
          <a:lstStyle/>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Not a substitute for gene-level DE — different question, different resolution.</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A score is not the same as causal activation of a pathway.</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Low-coverage sets are weaker evidence — flag them explicitly.</a:t>
            </a:r>
            <a:endParaRPr lang="en-US" sz="1150" dirty="0"/>
          </a:p>
          <a:p>
            <a:pPr algn="l" marL="342900" indent="-342900">
              <a:spcAft>
                <a:spcPts val="600"/>
              </a:spcAft>
              <a:buSzPct val="100000"/>
              <a:buFont typeface="+mj-lt"/>
              <a:buAutoNum type="arabicPeriod" startAt="1"/>
            </a:pPr>
            <a:r>
              <a:rPr lang="en-US" sz="1150" dirty="0">
                <a:solidFill>
                  <a:srgbClr val="1A2535"/>
                </a:solidFill>
                <a:latin typeface="Calibri" pitchFamily="34" charset="0"/>
                <a:ea typeface="Calibri" pitchFamily="34" charset="-122"/>
                <a:cs typeface="Calibri" pitchFamily="34" charset="-120"/>
              </a:rPr>
              <a:t>A single-method hit is less persuasive than agreement across methods.</a:t>
            </a:r>
            <a:endParaRPr lang="en-US" sz="1150" dirty="0"/>
          </a:p>
        </p:txBody>
      </p:sp>
      <p:sp>
        <p:nvSpPr>
          <p:cNvPr id="12" name="Shape 10"/>
          <p:cNvSpPr/>
          <p:nvPr/>
        </p:nvSpPr>
        <p:spPr>
          <a:xfrm>
            <a:off x="320040" y="4114800"/>
            <a:ext cx="8503920" cy="822960"/>
          </a:xfrm>
          <a:prstGeom prst="rect">
            <a:avLst/>
          </a:prstGeom>
          <a:solidFill>
            <a:srgbClr val="EFF6FF"/>
          </a:solidFill>
          <a:ln w="6350">
            <a:solidFill>
              <a:srgbClr val="BFDBFE"/>
            </a:solidFill>
            <a:prstDash val="solid"/>
          </a:ln>
        </p:spPr>
      </p:sp>
      <p:sp>
        <p:nvSpPr>
          <p:cNvPr id="13" name="Text 11"/>
          <p:cNvSpPr/>
          <p:nvPr/>
        </p:nvSpPr>
        <p:spPr>
          <a:xfrm>
            <a:off x="502920" y="4114800"/>
            <a:ext cx="8229600" cy="822960"/>
          </a:xfrm>
          <a:prstGeom prst="rect">
            <a:avLst/>
          </a:prstGeom>
          <a:noFill/>
          <a:ln/>
        </p:spPr>
        <p:txBody>
          <a:bodyPr wrap="square" rtlCol="0" anchor="ctr"/>
          <a:lstStyle/>
          <a:p>
            <a:pPr algn="l" indent="0" marL="0">
              <a:buNone/>
            </a:pPr>
            <a:r>
              <a:rPr lang="en-US" sz="1100" b="1" dirty="0">
                <a:solidFill>
                  <a:srgbClr val="0A4A72"/>
                </a:solidFill>
                <a:latin typeface="Calibri" pitchFamily="34" charset="0"/>
                <a:ea typeface="Calibri" pitchFamily="34" charset="-122"/>
                <a:cs typeface="Calibri" pitchFamily="34" charset="-120"/>
              </a:rPr>
              <a:t>Suggested phrasing:  </a:t>
            </a:r>
            <a:pPr algn="l" indent="0" marL="0">
              <a:buNone/>
            </a:pPr>
            <a:r>
              <a:rPr lang="en-US" sz="1100" i="1" dirty="0">
                <a:solidFill>
                  <a:srgbClr val="1A2535"/>
                </a:solidFill>
                <a:latin typeface="Calibri" pitchFamily="34" charset="0"/>
                <a:ea typeface="Calibri" pitchFamily="34" charset="-122"/>
                <a:cs typeface="Calibri" pitchFamily="34" charset="-120"/>
              </a:rPr>
              <a:t>"This analysis summarizes coordinated expression changes into pathway-level scores. It suggests which biological programs are enriched in each condition. We trust the strongest signals when coverage is good, the plots look clean, and the methods agree."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35"/>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6B6D4"/>
          </a:solidFill>
          <a:ln w="12700">
            <a:solidFill>
              <a:srgbClr val="06B6D4"/>
            </a:solidFill>
            <a:prstDash val="solid"/>
          </a:ln>
        </p:spPr>
      </p:sp>
      <p:sp>
        <p:nvSpPr>
          <p:cNvPr id="3" name="Text 1"/>
          <p:cNvSpPr/>
          <p:nvPr/>
        </p:nvSpPr>
        <p:spPr>
          <a:xfrm>
            <a:off x="365760" y="201168"/>
            <a:ext cx="8412480" cy="548640"/>
          </a:xfrm>
          <a:prstGeom prst="rect">
            <a:avLst/>
          </a:prstGeom>
          <a:noFill/>
          <a:ln/>
        </p:spPr>
        <p:txBody>
          <a:bodyPr wrap="square" rtlCol="0" anchor="ctr"/>
          <a:lstStyle/>
          <a:p>
            <a:pPr algn="l" indent="0" marL="0">
              <a:buNone/>
            </a:pPr>
            <a:r>
              <a:rPr lang="en-US" sz="2200" b="1" dirty="0">
                <a:solidFill>
                  <a:srgbClr val="FFFFFF"/>
                </a:solidFill>
                <a:latin typeface="Calibri" pitchFamily="34" charset="0"/>
                <a:ea typeface="Calibri" pitchFamily="34" charset="-122"/>
                <a:cs typeface="Calibri" pitchFamily="34" charset="-120"/>
              </a:rPr>
              <a:t>One-minute talk track for a single pathway</a:t>
            </a:r>
            <a:endParaRPr lang="en-US" sz="2200" dirty="0"/>
          </a:p>
        </p:txBody>
      </p:sp>
      <p:sp>
        <p:nvSpPr>
          <p:cNvPr id="4" name="Text 2"/>
          <p:cNvSpPr/>
          <p:nvPr/>
        </p:nvSpPr>
        <p:spPr>
          <a:xfrm>
            <a:off x="365760" y="749808"/>
            <a:ext cx="8412480" cy="292608"/>
          </a:xfrm>
          <a:prstGeom prst="rect">
            <a:avLst/>
          </a:prstGeom>
          <a:noFill/>
          <a:ln/>
        </p:spPr>
        <p:txBody>
          <a:bodyPr wrap="square" rtlCol="0" anchor="ctr"/>
          <a:lstStyle/>
          <a:p>
            <a:pPr algn="l" indent="0" marL="0">
              <a:buNone/>
            </a:pPr>
            <a:r>
              <a:rPr lang="en-US" sz="1150" i="1" dirty="0">
                <a:solidFill>
                  <a:srgbClr val="C8DFF0"/>
                </a:solidFill>
                <a:latin typeface="Calibri" pitchFamily="34" charset="0"/>
                <a:ea typeface="Calibri" pitchFamily="34" charset="-122"/>
                <a:cs typeface="Calibri" pitchFamily="34" charset="-120"/>
              </a:rPr>
              <a:t>Use the same three-beat sequence every time  ·  coverage → direction → robustness</a:t>
            </a:r>
            <a:endParaRPr lang="en-US" sz="1150" dirty="0"/>
          </a:p>
        </p:txBody>
      </p:sp>
      <p:sp>
        <p:nvSpPr>
          <p:cNvPr id="5" name="Shape 3"/>
          <p:cNvSpPr/>
          <p:nvPr/>
        </p:nvSpPr>
        <p:spPr>
          <a:xfrm>
            <a:off x="365760" y="1170432"/>
            <a:ext cx="8366760" cy="1005840"/>
          </a:xfrm>
          <a:prstGeom prst="rect">
            <a:avLst/>
          </a:prstGeom>
          <a:solidFill>
            <a:srgbClr val="FFFFFF">
              <a:alpha val="12000"/>
            </a:srgbClr>
          </a:solidFill>
          <a:ln w="10160">
            <a:solidFill>
              <a:srgbClr val="0EA5E9"/>
            </a:solidFill>
            <a:prstDash val="solid"/>
          </a:ln>
        </p:spPr>
      </p:sp>
      <p:sp>
        <p:nvSpPr>
          <p:cNvPr id="6" name="Shape 4"/>
          <p:cNvSpPr/>
          <p:nvPr/>
        </p:nvSpPr>
        <p:spPr>
          <a:xfrm>
            <a:off x="502920" y="1426464"/>
            <a:ext cx="475488" cy="475488"/>
          </a:xfrm>
          <a:prstGeom prst="ellipse">
            <a:avLst/>
          </a:prstGeom>
          <a:solidFill>
            <a:srgbClr val="0EA5E9"/>
          </a:solidFill>
          <a:ln w="12700">
            <a:solidFill>
              <a:srgbClr val="0EA5E9"/>
            </a:solidFill>
            <a:prstDash val="solid"/>
          </a:ln>
        </p:spPr>
      </p:sp>
      <p:sp>
        <p:nvSpPr>
          <p:cNvPr id="7" name="Text 5"/>
          <p:cNvSpPr/>
          <p:nvPr/>
        </p:nvSpPr>
        <p:spPr>
          <a:xfrm>
            <a:off x="502920" y="1426464"/>
            <a:ext cx="475488" cy="475488"/>
          </a:xfrm>
          <a:prstGeom prst="rect">
            <a:avLst/>
          </a:prstGeom>
          <a:noFill/>
          <a:ln/>
        </p:spPr>
        <p:txBody>
          <a:bodyPr wrap="square" lIns="0" tIns="0" rIns="0" bIns="0" rtlCol="0" anchor="ctr"/>
          <a:lstStyle/>
          <a:p>
            <a:pPr algn="ctr" indent="0" marL="0">
              <a:buNone/>
            </a:pPr>
            <a:r>
              <a:rPr lang="en-US" sz="1600" b="1" dirty="0">
                <a:solidFill>
                  <a:srgbClr val="0D1F35"/>
                </a:solidFill>
              </a:rPr>
              <a:t>1</a:t>
            </a:r>
            <a:endParaRPr lang="en-US" sz="1600" dirty="0"/>
          </a:p>
        </p:txBody>
      </p:sp>
      <p:sp>
        <p:nvSpPr>
          <p:cNvPr id="8" name="Text 6"/>
          <p:cNvSpPr/>
          <p:nvPr/>
        </p:nvSpPr>
        <p:spPr>
          <a:xfrm>
            <a:off x="1115568" y="1243584"/>
            <a:ext cx="1828800" cy="329184"/>
          </a:xfrm>
          <a:prstGeom prst="rect">
            <a:avLst/>
          </a:prstGeom>
          <a:noFill/>
          <a:ln/>
        </p:spPr>
        <p:txBody>
          <a:bodyPr wrap="square" rtlCol="0" anchor="ctr"/>
          <a:lstStyle/>
          <a:p>
            <a:pPr algn="l" indent="0" marL="0">
              <a:buNone/>
            </a:pPr>
            <a:r>
              <a:rPr lang="en-US" sz="1200" b="1" dirty="0">
                <a:solidFill>
                  <a:srgbClr val="0EA5E9"/>
                </a:solidFill>
                <a:latin typeface="Calibri" pitchFamily="34" charset="0"/>
                <a:ea typeface="Calibri" pitchFamily="34" charset="-122"/>
                <a:cs typeface="Calibri" pitchFamily="34" charset="-120"/>
              </a:rPr>
              <a:t>Coverage</a:t>
            </a:r>
            <a:endParaRPr lang="en-US" sz="1200" dirty="0"/>
          </a:p>
        </p:txBody>
      </p:sp>
      <p:sp>
        <p:nvSpPr>
          <p:cNvPr id="9" name="Text 7"/>
          <p:cNvSpPr/>
          <p:nvPr/>
        </p:nvSpPr>
        <p:spPr>
          <a:xfrm>
            <a:off x="1115568" y="1517904"/>
            <a:ext cx="7269480" cy="329184"/>
          </a:xfrm>
          <a:prstGeom prst="rect">
            <a:avLst/>
          </a:prstGeom>
          <a:noFill/>
          <a:ln/>
        </p:spPr>
        <p:txBody>
          <a:bodyPr wrap="square"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"This gene set is well represented in the expression matrix, so the score is worth interpreting."</a:t>
            </a:r>
            <a:endParaRPr lang="en-US" sz="1100" dirty="0"/>
          </a:p>
        </p:txBody>
      </p:sp>
      <p:sp>
        <p:nvSpPr>
          <p:cNvPr id="10" name="Text 8"/>
          <p:cNvSpPr/>
          <p:nvPr/>
        </p:nvSpPr>
        <p:spPr>
          <a:xfrm>
            <a:off x="1115568" y="1847088"/>
            <a:ext cx="7269480" cy="246888"/>
          </a:xfrm>
          <a:prstGeom prst="rect">
            <a:avLst/>
          </a:prstGeom>
          <a:noFill/>
          <a:ln/>
        </p:spPr>
        <p:txBody>
          <a:bodyPr wrap="square" rtlCol="0" anchor="ctr"/>
          <a:lstStyle/>
          <a:p>
            <a:pPr algn="l" indent="0" marL="0">
              <a:buNone/>
            </a:pPr>
            <a:r>
              <a:rPr lang="en-US" sz="950" dirty="0">
                <a:solidFill>
                  <a:srgbClr val="C8DFF0"/>
                </a:solidFill>
                <a:latin typeface="Calibri" pitchFamily="34" charset="0"/>
                <a:ea typeface="Calibri" pitchFamily="34" charset="-122"/>
                <a:cs typeface="Calibri" pitchFamily="34" charset="-120"/>
              </a:rPr>
              <a:t>↳ Cite % matched from 03_gene_set_coverage.csv</a:t>
            </a:r>
            <a:endParaRPr lang="en-US" sz="950" dirty="0"/>
          </a:p>
        </p:txBody>
      </p:sp>
      <p:sp>
        <p:nvSpPr>
          <p:cNvPr id="11" name="Shape 9"/>
          <p:cNvSpPr/>
          <p:nvPr/>
        </p:nvSpPr>
        <p:spPr>
          <a:xfrm>
            <a:off x="365760" y="2286000"/>
            <a:ext cx="8366760" cy="1005840"/>
          </a:xfrm>
          <a:prstGeom prst="rect">
            <a:avLst/>
          </a:prstGeom>
          <a:solidFill>
            <a:srgbClr val="FFFFFF">
              <a:alpha val="12000"/>
            </a:srgbClr>
          </a:solidFill>
          <a:ln w="10160">
            <a:solidFill>
              <a:srgbClr val="06B6D4"/>
            </a:solidFill>
            <a:prstDash val="solid"/>
          </a:ln>
        </p:spPr>
      </p:sp>
      <p:sp>
        <p:nvSpPr>
          <p:cNvPr id="12" name="Shape 10"/>
          <p:cNvSpPr/>
          <p:nvPr/>
        </p:nvSpPr>
        <p:spPr>
          <a:xfrm>
            <a:off x="502920" y="2542032"/>
            <a:ext cx="475488" cy="475488"/>
          </a:xfrm>
          <a:prstGeom prst="ellipse">
            <a:avLst/>
          </a:prstGeom>
          <a:solidFill>
            <a:srgbClr val="06B6D4"/>
          </a:solidFill>
          <a:ln w="12700">
            <a:solidFill>
              <a:srgbClr val="06B6D4"/>
            </a:solidFill>
            <a:prstDash val="solid"/>
          </a:ln>
        </p:spPr>
      </p:sp>
      <p:sp>
        <p:nvSpPr>
          <p:cNvPr id="13" name="Text 11"/>
          <p:cNvSpPr/>
          <p:nvPr/>
        </p:nvSpPr>
        <p:spPr>
          <a:xfrm>
            <a:off x="502920" y="2542032"/>
            <a:ext cx="475488" cy="475488"/>
          </a:xfrm>
          <a:prstGeom prst="rect">
            <a:avLst/>
          </a:prstGeom>
          <a:noFill/>
          <a:ln/>
        </p:spPr>
        <p:txBody>
          <a:bodyPr wrap="square" lIns="0" tIns="0" rIns="0" bIns="0" rtlCol="0" anchor="ctr"/>
          <a:lstStyle/>
          <a:p>
            <a:pPr algn="ctr" indent="0" marL="0">
              <a:buNone/>
            </a:pPr>
            <a:r>
              <a:rPr lang="en-US" sz="1600" b="1" dirty="0">
                <a:solidFill>
                  <a:srgbClr val="0D1F35"/>
                </a:solidFill>
              </a:rPr>
              <a:t>2</a:t>
            </a:r>
            <a:endParaRPr lang="en-US" sz="1600" dirty="0"/>
          </a:p>
        </p:txBody>
      </p:sp>
      <p:sp>
        <p:nvSpPr>
          <p:cNvPr id="14" name="Text 12"/>
          <p:cNvSpPr/>
          <p:nvPr/>
        </p:nvSpPr>
        <p:spPr>
          <a:xfrm>
            <a:off x="1115568" y="2359152"/>
            <a:ext cx="1828800" cy="329184"/>
          </a:xfrm>
          <a:prstGeom prst="rect">
            <a:avLst/>
          </a:prstGeom>
          <a:noFill/>
          <a:ln/>
        </p:spPr>
        <p:txBody>
          <a:bodyPr wrap="square" rtlCol="0" anchor="ctr"/>
          <a:lstStyle/>
          <a:p>
            <a:pPr algn="l" indent="0" marL="0">
              <a:buNone/>
            </a:pPr>
            <a:r>
              <a:rPr lang="en-US" sz="1200" b="1" dirty="0">
                <a:solidFill>
                  <a:srgbClr val="06B6D4"/>
                </a:solidFill>
                <a:latin typeface="Calibri" pitchFamily="34" charset="0"/>
                <a:ea typeface="Calibri" pitchFamily="34" charset="-122"/>
                <a:cs typeface="Calibri" pitchFamily="34" charset="-120"/>
              </a:rPr>
              <a:t>Direction of effect</a:t>
            </a:r>
            <a:endParaRPr lang="en-US" sz="1200" dirty="0"/>
          </a:p>
        </p:txBody>
      </p:sp>
      <p:sp>
        <p:nvSpPr>
          <p:cNvPr id="15" name="Text 13"/>
          <p:cNvSpPr/>
          <p:nvPr/>
        </p:nvSpPr>
        <p:spPr>
          <a:xfrm>
            <a:off x="1115568" y="2633472"/>
            <a:ext cx="7269480" cy="329184"/>
          </a:xfrm>
          <a:prstGeom prst="rect">
            <a:avLst/>
          </a:prstGeom>
          <a:noFill/>
          <a:ln/>
        </p:spPr>
        <p:txBody>
          <a:bodyPr wrap="square"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"Condition A shows higher pathway scores than Condition B, consistent with stronger program activity."</a:t>
            </a:r>
            <a:endParaRPr lang="en-US" sz="1100" dirty="0"/>
          </a:p>
        </p:txBody>
      </p:sp>
      <p:sp>
        <p:nvSpPr>
          <p:cNvPr id="16" name="Text 14"/>
          <p:cNvSpPr/>
          <p:nvPr/>
        </p:nvSpPr>
        <p:spPr>
          <a:xfrm>
            <a:off x="1115568" y="2962656"/>
            <a:ext cx="7269480" cy="246888"/>
          </a:xfrm>
          <a:prstGeom prst="rect">
            <a:avLst/>
          </a:prstGeom>
          <a:noFill/>
          <a:ln/>
        </p:spPr>
        <p:txBody>
          <a:bodyPr wrap="square" rtlCol="0" anchor="ctr"/>
          <a:lstStyle/>
          <a:p>
            <a:pPr algn="l" indent="0" marL="0">
              <a:buNone/>
            </a:pPr>
            <a:r>
              <a:rPr lang="en-US" sz="950" dirty="0">
                <a:solidFill>
                  <a:srgbClr val="C8DFF0"/>
                </a:solidFill>
                <a:latin typeface="Calibri" pitchFamily="34" charset="0"/>
                <a:ea typeface="Calibri" pitchFamily="34" charset="-122"/>
                <a:cs typeface="Calibri" pitchFamily="34" charset="-120"/>
              </a:rPr>
              <a:t>↳ Point to boxplot or median difference in stats table</a:t>
            </a:r>
            <a:endParaRPr lang="en-US" sz="950" dirty="0"/>
          </a:p>
        </p:txBody>
      </p:sp>
      <p:sp>
        <p:nvSpPr>
          <p:cNvPr id="17" name="Shape 15"/>
          <p:cNvSpPr/>
          <p:nvPr/>
        </p:nvSpPr>
        <p:spPr>
          <a:xfrm>
            <a:off x="365760" y="3401568"/>
            <a:ext cx="8366760" cy="1005840"/>
          </a:xfrm>
          <a:prstGeom prst="rect">
            <a:avLst/>
          </a:prstGeom>
          <a:solidFill>
            <a:srgbClr val="FFFFFF">
              <a:alpha val="12000"/>
            </a:srgbClr>
          </a:solidFill>
          <a:ln w="10160">
            <a:solidFill>
              <a:srgbClr val="F59E0B"/>
            </a:solidFill>
            <a:prstDash val="solid"/>
          </a:ln>
        </p:spPr>
      </p:sp>
      <p:sp>
        <p:nvSpPr>
          <p:cNvPr id="18" name="Shape 16"/>
          <p:cNvSpPr/>
          <p:nvPr/>
        </p:nvSpPr>
        <p:spPr>
          <a:xfrm>
            <a:off x="502920" y="3657600"/>
            <a:ext cx="475488" cy="475488"/>
          </a:xfrm>
          <a:prstGeom prst="ellipse">
            <a:avLst/>
          </a:prstGeom>
          <a:solidFill>
            <a:srgbClr val="F59E0B"/>
          </a:solidFill>
          <a:ln w="12700">
            <a:solidFill>
              <a:srgbClr val="F59E0B"/>
            </a:solidFill>
            <a:prstDash val="solid"/>
          </a:ln>
        </p:spPr>
      </p:sp>
      <p:sp>
        <p:nvSpPr>
          <p:cNvPr id="19" name="Text 17"/>
          <p:cNvSpPr/>
          <p:nvPr/>
        </p:nvSpPr>
        <p:spPr>
          <a:xfrm>
            <a:off x="502920" y="3657600"/>
            <a:ext cx="475488" cy="475488"/>
          </a:xfrm>
          <a:prstGeom prst="rect">
            <a:avLst/>
          </a:prstGeom>
          <a:noFill/>
          <a:ln/>
        </p:spPr>
        <p:txBody>
          <a:bodyPr wrap="square" lIns="0" tIns="0" rIns="0" bIns="0" rtlCol="0" anchor="ctr"/>
          <a:lstStyle/>
          <a:p>
            <a:pPr algn="ctr" indent="0" marL="0">
              <a:buNone/>
            </a:pPr>
            <a:r>
              <a:rPr lang="en-US" sz="1600" b="1" dirty="0">
                <a:solidFill>
                  <a:srgbClr val="0D1F35"/>
                </a:solidFill>
              </a:rPr>
              <a:t>3</a:t>
            </a:r>
            <a:endParaRPr lang="en-US" sz="1600" dirty="0"/>
          </a:p>
        </p:txBody>
      </p:sp>
      <p:sp>
        <p:nvSpPr>
          <p:cNvPr id="20" name="Text 18"/>
          <p:cNvSpPr/>
          <p:nvPr/>
        </p:nvSpPr>
        <p:spPr>
          <a:xfrm>
            <a:off x="1115568" y="3474720"/>
            <a:ext cx="1828800" cy="329184"/>
          </a:xfrm>
          <a:prstGeom prst="rect">
            <a:avLst/>
          </a:prstGeom>
          <a:noFill/>
          <a:ln/>
        </p:spPr>
        <p:txBody>
          <a:bodyPr wrap="square" rtlCol="0" anchor="ctr"/>
          <a:lstStyle/>
          <a:p>
            <a:pPr algn="l" indent="0" marL="0">
              <a:buNone/>
            </a:pPr>
            <a:r>
              <a:rPr lang="en-US" sz="1200" b="1" dirty="0">
                <a:solidFill>
                  <a:srgbClr val="F59E0B"/>
                </a:solidFill>
                <a:latin typeface="Calibri" pitchFamily="34" charset="0"/>
                <a:ea typeface="Calibri" pitchFamily="34" charset="-122"/>
                <a:cs typeface="Calibri" pitchFamily="34" charset="-120"/>
              </a:rPr>
              <a:t>Robustness</a:t>
            </a:r>
            <a:endParaRPr lang="en-US" sz="1200" dirty="0"/>
          </a:p>
        </p:txBody>
      </p:sp>
      <p:sp>
        <p:nvSpPr>
          <p:cNvPr id="21" name="Text 19"/>
          <p:cNvSpPr/>
          <p:nvPr/>
        </p:nvSpPr>
        <p:spPr>
          <a:xfrm>
            <a:off x="1115568" y="3749040"/>
            <a:ext cx="7269480" cy="329184"/>
          </a:xfrm>
          <a:prstGeom prst="rect">
            <a:avLst/>
          </a:prstGeom>
          <a:noFill/>
          <a:ln/>
        </p:spPr>
        <p:txBody>
          <a:bodyPr wrap="square" rtlCol="0" anchor="ctr"/>
          <a:lstStyle/>
          <a:p>
            <a:pPr algn="l" indent="0" marL="0">
              <a:buNone/>
            </a:pPr>
            <a:r>
              <a:rPr lang="en-US" sz="1100" i="1" dirty="0">
                <a:solidFill>
                  <a:srgbClr val="FFFFFF"/>
                </a:solidFill>
                <a:latin typeface="Calibri" pitchFamily="34" charset="0"/>
                <a:ea typeface="Calibri" pitchFamily="34" charset="-122"/>
                <a:cs typeface="Calibri" pitchFamily="34" charset="-120"/>
              </a:rPr>
              <a:t>"The same direction appears across all three scoring methods, and the plots look clean."</a:t>
            </a:r>
            <a:endParaRPr lang="en-US" sz="1100" dirty="0"/>
          </a:p>
        </p:txBody>
      </p:sp>
      <p:sp>
        <p:nvSpPr>
          <p:cNvPr id="22" name="Text 20"/>
          <p:cNvSpPr/>
          <p:nvPr/>
        </p:nvSpPr>
        <p:spPr>
          <a:xfrm>
            <a:off x="1115568" y="4078224"/>
            <a:ext cx="7269480" cy="246888"/>
          </a:xfrm>
          <a:prstGeom prst="rect">
            <a:avLst/>
          </a:prstGeom>
          <a:noFill/>
          <a:ln/>
        </p:spPr>
        <p:txBody>
          <a:bodyPr wrap="square" rtlCol="0" anchor="ctr"/>
          <a:lstStyle/>
          <a:p>
            <a:pPr algn="l" indent="0" marL="0">
              <a:buNone/>
            </a:pPr>
            <a:r>
              <a:rPr lang="en-US" sz="950" dirty="0">
                <a:solidFill>
                  <a:srgbClr val="C8DFF0"/>
                </a:solidFill>
                <a:latin typeface="Calibri" pitchFamily="34" charset="0"/>
                <a:ea typeface="Calibri" pitchFamily="34" charset="-122"/>
                <a:cs typeface="Calibri" pitchFamily="34" charset="-120"/>
              </a:rPr>
              <a:t>↳ If any method disagrees, say so — shows intellectual honesty</a:t>
            </a:r>
            <a:endParaRPr lang="en-US" sz="950" dirty="0"/>
          </a:p>
        </p:txBody>
      </p:sp>
      <p:sp>
        <p:nvSpPr>
          <p:cNvPr id="23" name="Shape 21"/>
          <p:cNvSpPr/>
          <p:nvPr/>
        </p:nvSpPr>
        <p:spPr>
          <a:xfrm>
            <a:off x="365760" y="4507992"/>
            <a:ext cx="8366760" cy="438912"/>
          </a:xfrm>
          <a:prstGeom prst="rect">
            <a:avLst/>
          </a:prstGeom>
          <a:solidFill>
            <a:srgbClr val="0E7490">
              <a:alpha val="30000"/>
            </a:srgbClr>
          </a:solidFill>
          <a:ln w="6350">
            <a:solidFill>
              <a:srgbClr val="0E7490"/>
            </a:solidFill>
            <a:prstDash val="solid"/>
          </a:ln>
        </p:spPr>
      </p:sp>
      <p:sp>
        <p:nvSpPr>
          <p:cNvPr id="24" name="Text 22"/>
          <p:cNvSpPr/>
          <p:nvPr/>
        </p:nvSpPr>
        <p:spPr>
          <a:xfrm>
            <a:off x="548640" y="4507992"/>
            <a:ext cx="8183880" cy="438912"/>
          </a:xfrm>
          <a:prstGeom prst="rect">
            <a:avLst/>
          </a:prstGeom>
          <a:noFill/>
          <a:ln/>
        </p:spPr>
        <p:txBody>
          <a:bodyPr wrap="square" rtlCol="0" anchor="ctr"/>
          <a:lstStyle/>
          <a:p>
            <a:pPr algn="l" indent="0" marL="0">
              <a:buNone/>
            </a:pPr>
            <a:r>
              <a:rPr lang="en-US" sz="1000" b="1" dirty="0">
                <a:solidFill>
                  <a:srgbClr val="06B6D4"/>
                </a:solidFill>
                <a:latin typeface="Calibri" pitchFamily="34" charset="0"/>
                <a:ea typeface="Calibri" pitchFamily="34" charset="-122"/>
                <a:cs typeface="Calibri" pitchFamily="34" charset="-120"/>
              </a:rPr>
              <a:t>Example: </a:t>
            </a:r>
            <a:pPr algn="l" indent="0" marL="0">
              <a:buNone/>
            </a:pPr>
            <a:r>
              <a:rPr lang="en-US" sz="1000" i="1" dirty="0">
                <a:solidFill>
                  <a:srgbClr val="FFFFFF"/>
                </a:solidFill>
                <a:latin typeface="Calibri" pitchFamily="34" charset="0"/>
                <a:ea typeface="Calibri" pitchFamily="34" charset="-122"/>
                <a:cs typeface="Calibri" pitchFamily="34" charset="-120"/>
              </a:rPr>
              <a:t>"The osteogenesis signature is one of the clearer signals. Coverage is solid, pathway scores are shifted upward in fused tissue, and that pattern holds across all three methods. I'd describe this as coordinated enrichment of an osteogenic program — not evidence from any single marker gene."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Bulk RNA-seq Pathway Scoring — PI Explainer</dc:title>
  <dc:subject>PptxGenJS Presentation</dc:subject>
  <dc:creator>PptxGenJS</dc:creator>
  <cp:lastModifiedBy>PptxGenJS</cp:lastModifiedBy>
  <cp:revision>1</cp:revision>
  <dcterms:created xsi:type="dcterms:W3CDTF">2026-03-09T21:07:21Z</dcterms:created>
  <dcterms:modified xsi:type="dcterms:W3CDTF">2026-03-09T21:07:21Z</dcterms:modified>
</cp:coreProperties>
</file>